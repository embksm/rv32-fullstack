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안녕하세요, 발표를 맡은 김성민입니다. 오늘 소개할 'RV32-FullStack'을 한 문장으로 요약하면 — 상용 IP를 전혀 쓰지 않고 RISC-V RV32I 프로세서 코어와 INT8 신경망 가속기(NPU)를 RTL 수준에서 직접 설계해, 실제 자일링스 Zynq 보드에서 106MHz로 동작시킨 프로젝트입니다.</a:t>
            </a:r>
          </a:p>
          <a:p>
            <a:r>
              <a:t>【숫자 미리보기】 화면 우측 하단의 세 숫자를 먼저 기억해 주세요. ① 37→106MHz: 동작 클럭을 약 2.7배 끌어올렸습니다. ② 256 MAC: 16×16 시스톨릭 어레이가 한 클럭에 256번의 곱셈-누산을 수행합니다. ③ 18,688/0: 검증에서 1만 8천여 건을 확인했고 오류는 0건입니다.</a:t>
            </a:r>
          </a:p>
          <a:p>
            <a:r>
              <a:t>【발표 약속】 오늘 40분 동안 이 세 숫자가 '어떻게' 가능했는지를 설계 → 검증 → 성능 최적화 순으로 보여드리겠습니다. 특히 뒤쪽 성능 최적화 파트가 이 프로젝트의 핵심입니다.</a:t>
            </a:r>
          </a:p>
          <a:p>
            <a:r>
              <a:t>【시간】 약 1분. 너무 길게 끌지 말고 바로 목차로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【설명】 발표는 네 부분입니다. 01 시스템 설계에서 전체 아키텍처와 RV32 코어, NPU 구조를 보고, 02 검증에서 '정말 맞게 동작하는가'를 시뮬레이션과 실보드 두 축으로 증명합니다. 03 성능 최적화가 오늘의 하이라이트로, 클럭을 37에서 106MHz까지 올린 과정입니다. 04에서 실측 화면과 교훈으로 마무리합니다.</a:t>
            </a:r>
          </a:p>
          <a:p>
            <a:r>
              <a:t>【강조】 '설계가 30%, 검증이 30%, 그리고 성능 최적화가 나머지 핵심'이라고 비중을 미리 알려 주면 청중이 뒤를 기대하게 됩니다.</a:t>
            </a:r>
          </a:p>
          <a:p>
            <a:r>
              <a:t>【시간】 약 30초. 목차는 빠르게.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가장 먼저 받는 질문이 '왜 직접 만들었나, 가져다 쓰면 되지 않나'입니다. 맞습니다, 상용 RISC-V 코어나 NPU IP를 쓰면 훨씬 빠릅니다.</a:t>
            </a:r>
          </a:p>
          <a:p>
            <a:r>
              <a:t>【핵심 설명】 하지만 그러면 파이프라인 해저드 처리, 시스톨릭 데이터플로우, 그리고 타이밍 클로저 — 즉 하드웨어 설계의 가장 본질적인 부분을 직접 다뤄볼 기회가 사라집니다. 이 프로젝트는 그 전 과정을 손으로 설계하고 검증하는 것이 목표였습니다.</a:t>
            </a:r>
          </a:p>
          <a:p>
            <a:r>
              <a:t>【강조】 그리고 한 가지 철학이 있었습니다. 프로세서이기 때문에 '정확성'은 당연한 전제이고, 진짜 가치는 '속도'에 있다는 것입니다. 그래서 '일단 동작한다'에서 멈추지 않고 클럭을 한계까지 밀어붙였습니다. 이게 뒤 성능 파트로 이어집니다.</a:t>
            </a:r>
          </a:p>
          <a:p>
            <a:r>
              <a:t>【화면 짚기】 목표 세 가지 카드를 차례로: 동작하는 RV32I 코어, INT8 GEMM 가속기, 그리고 실보드 구동과 속도 극대화.</a:t>
            </a:r>
          </a:p>
          <a:p>
            <a:r>
              <a:t>【시간】 약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본론에 들어가기 전에 결과를 먼저 펼쳐 보이겠습니다. 이 여섯 숫자가 오늘 증명할 내용의 전부입니다.</a:t>
            </a:r>
          </a:p>
          <a:p>
            <a:r>
              <a:t>【핵심 설명】 ① 37→106MHz, 클럭 2.7배. ② 256 MAC, 8×8 대비 4배 연산기. ③ DSP 220개를 100% 사용 — 칩의 곱셈기를 한 개도 남기지 않았고, 그래서 부족분 56개는 LUT로 곱셈기를 직접 만들어 채웠습니다. ④ 검증 1만 8천여 건에 오류 0. ⑤ 실보드 결과가 골든 모델과 정확히 일치. ⑥ 100MHz에서 타이밍 여유(WNS) +0.085나노초로 실패 경로 0개.</a:t>
            </a:r>
          </a:p>
          <a:p>
            <a:r>
              <a:t>【강조】 핵심 메시지는 '정확성을 한 번도 희생하지 않고 성능을 3배 가까이 끌어올렸다'입니다. 이제 각각을 어떻게 달성했는지 보겠습니다.</a:t>
            </a:r>
          </a:p>
          <a:p>
            <a:r>
              <a:t>【예상 질문】 'DSP 100%면 더 못 키우나?' → 타일링으로 확장 가능하다고만 답하고 향후 과제 슬라이드(23p)로 미룹니다.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전체 구조부터 보겠습니다. 크게 세 계층입니다 — 호스트 PC, Zynq의 PS(프로세싱 시스템), 그리고 PL(프로그래머블 로직).</a:t>
            </a:r>
          </a:p>
          <a:p>
            <a:r>
              <a:t>【핵심 설명】 가장 중요한 개념은 'PS-host 제어 모델'입니다. ARM Cortex-A9 또는 JTAG가 호스트가 되어, PL에 있는 우리 RV32 코어의 명령어 메모리를 채워 넣고, 실행시키고, 결과 레지스터를 다시 읽어옵니다. 즉 PL의 프로세서를 PS가 바깥에서 조종하는 구조입니다.</a:t>
            </a:r>
          </a:p>
          <a:p>
            <a:r>
              <a:t>【화면 짚기】 위에서 아래로 화살표를 따라가며: 호스트가 UART로 프로그램을 보내고, PS가 AXI-Lite(주소 0x4000_0000)로 PL을 제어합니다. 초록 점선이 바로 'ctrl_axi 우회 경로'인데, 뒤 검증 파트에서 이게 왜 결정적이었는지 설명합니다.</a:t>
            </a:r>
          </a:p>
          <a:p>
            <a:r>
              <a:t>【우측 카드】 PS-host 제어, ctrl_axi 경로, 3계층 — 세 줄로 요약돼 있습니다.</a:t>
            </a:r>
          </a:p>
          <a:p>
            <a:r>
              <a:t>【전환】 이 PL 안에 무엇이 들어있는지 다음 장에서 자원 규모부터 봅니다.</a:t>
            </a:r>
          </a:p>
          <a:p>
            <a:r>
              <a:t>【시간】 약 1.5~2분.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우리가 올린 칩은 자일링스 Zynq-7000, 그중 XC7Z020입니다. 규모를 숫자로 보겠습니다.</a:t>
            </a:r>
          </a:p>
          <a:p>
            <a:r>
              <a:t>【핵심 설명】 LUT 5만 3천 개, 플립플롭 10만 6천 개, DSP48 곱셈기 220개, 블록램 140개입니다. 여기서 가장 중요한 제약이 'DSP 220개'입니다. 이 숫자가 NPU를 16×16으로 설계할 수 있는지를 결정했고, 실제로 256개 연산기 중 200개를 DSP로, 나머지 56개는 LUT로 만든 이유가 바로 이 한계 때문입니다.</a:t>
            </a:r>
          </a:p>
          <a:p>
            <a:r>
              <a:t>【화면 짚기】 아래 두 카드: PS는 Cortex-A9와 JTAG로 PL을 구동하고, PL에는 RV32 코어·NPU·주변장치가 들어갑니다. 주변장치도 Pmod 40핀에 SPI·I2C·UART·PWM·GPIO를 직접 구현했습니다.</a:t>
            </a:r>
          </a:p>
          <a:p>
            <a:r>
              <a:t>【전환】 그럼 PL 내부의 연결 구조와 클럭을 블록도로 보겠습니다.</a:t>
            </a:r>
          </a:p>
          <a:p>
            <a:r>
              <a:t>【시간】 약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이건 PL 내부, 즉 rv32_platform의 블록도입니다. 데이터가 어떻게 흐르는지와 클럭이 어떻게 공급되는지 두 가지를 봐주세요.</a:t>
            </a:r>
          </a:p>
          <a:p>
            <a:r>
              <a:t>【핵심 설명 - 데이터】 PS의 마스터 AXI 포트가 SmartConnect를 거쳐 ctrl_axi 슬레이브로 들어오고, 거기서 코어와 mmio_bridge로 이어집니다. 이 mmio_bridge가 한 클럭 만에 주소를 해독해서, 0x1로 시작하면 주변장치(MMIO), 0x3으로 시작하면 NPU로 보냅니다.</a:t>
            </a:r>
          </a:p>
          <a:p>
            <a:r>
              <a:t>【핵심 설명 - 클럭】 클럭은 PS에서 나온 100MHz(FCLK0)가 clk_wiz, 즉 MMCM이라는 클럭 생성기를 거쳐 106MHz로 변환되어 PL 전체를 구동합니다. 이 106MHz가 나온 이유는 성능 파트(20p)에서 자세히 설명합니다.</a:t>
            </a:r>
          </a:p>
          <a:p>
            <a:r>
              <a:t>【예상 질문】 'MMCM이 뭐냐' → FPGA 안에 내장된 PLL 계열 클럭 합성기로, 입력 클럭을 곱하고 나눠 원하는 주파수를 만든다고 한 줄로 답합니다.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이제 코어 자체입니다. 교과서적인 RISC-V 5단 파이프라인을 직접 구현했습니다 — 명령어 인출(IF), 해독(ID), 실행(EX), 메모리(MEM), 쓰기(WB).</a:t>
            </a:r>
          </a:p>
          <a:p>
            <a:r>
              <a:t>【핵심 설명】 RV32I 정수 명령어 전체에 더해 FENCE.I까지 넣었습니다. FENCE.I는 자기수정 코드를 다룰 때 명령어 캐시를 무효화하는 명령으로, 우리처럼 외부에서 코드를 적재하는 구조에서 필요합니다. 데이터 해저드는 forwarding, 즉 EX/MEM·MEM/WB 단계 결과를 앞 단계로 우회시켜 해결했습니다.</a:t>
            </a:r>
          </a:p>
          <a:p>
            <a:r>
              <a:t>【복선 - 중요】 한 가지 미리 짚고 갑니다. load-use 해저드, 즉 메모리에서 값을 읽자마자 바로 쓰는 경우엔 한 사이클 멈춰야(stall) 합니다. 이 멈춤을 만드는 경로가 — 지금은 별것 아니어 보이지만 — 나중에 클럭을 끝까지 올렸을 때 코어의 임계경로, 즉 속도의 한계가 됩니다. 성능 파트에서 다시 만나게 될 겁니다.</a:t>
            </a:r>
          </a:p>
          <a:p>
            <a:r>
              <a:t>【시간】 약 1.5~2분.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코어와 NPU가 어떻게 대화하는지, 메모리 맵을 보겠습니다. 이 설계에서 제가 가장 깔끔하다고 생각하는 부분입니다.</a:t>
            </a:r>
          </a:p>
          <a:p>
            <a:r>
              <a:t>【핵심 설명 - 좌측】 왼쪽은 ctrl_axi 제어 레지스터입니다. CTRL로 코어를 리셋하고 실행시키고, IMEM 레지스터로 명령어를 적재하고, STATUS·PC·레지스터를 다시 읽습니다. 즉 외부에서 코어를 완전히 통제할 수 있습니다.</a:t>
            </a:r>
          </a:p>
          <a:p>
            <a:r>
              <a:t>【핵심 설명 - 우측】 오른쪽은 NPU 영역(0x3000)입니다. A 행렬과 B 행렬 타일을 메모리처럼 써넣고, CTRL에 0x3을 쓰면 'start + 누산기 초기화'가 동작하고, 결과 C를 읽어옵니다.</a:t>
            </a:r>
          </a:p>
          <a:p>
            <a:r>
              <a:t>【강조】 핵심은 '단일 주소공간'입니다. RV32 프로그램은 그냥 load와 store 명령(lw/sw)만으로 NPU를 구동합니다. 별도의 DMA나 복잡한 드라이버 스택이 전혀 필요 없습니다 — 가속기가 메모리처럼 보이는 겁니다.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이 프로젝트의 심장, NPU입니다. 16×16 output-stationary 시스톨릭 어레이로 INT8 행렬곱(GEMM)을 가속합니다.</a:t>
            </a:r>
          </a:p>
          <a:p>
            <a:r>
              <a:t>【핵심 설명 - 동작】 256개의 PE(처리요소)가 격자로 배열돼 있고, 각 PE는 자기가 담당하는 출력 원소 C[i][j]의 누산기를 '고정해서' 가지고 있습니다. 이게 output-stationary의 뜻입니다. A 행렬은 왼쪽에서 오른쪽으로, B 행렬은 위에서 아래로 한 칸씩 흘러가고, 각 PE는 매 클럭 지나가는 값을 곱해서 누산기에 더합니다.</a:t>
            </a:r>
          </a:p>
          <a:p>
            <a:r>
              <a:t>【핵심 설명 - 구현】 256개 연산기 중 200개는 칩의 DSP48 곱셈기를 쓰고, 모자란 56개는 LUT로 곱셈기를 직접 만들었습니다. DSP 220개 한도를 100% 활용한 하이브리드 구조입니다. 입력은 INT8이지만 누산은 오버플로 방지를 위해 INT32로 하고, 마지막에 requantize로 다시 INT8로 줄입니다.</a:t>
            </a:r>
          </a:p>
          <a:p>
            <a:r>
              <a:t>【화면 짚기】 왼쪽 A 스크래치패드, 위쪽 B 스크래치패드, 오른쪽 requantize와 읽기 파이프라인 — 이 읽기 경로가 성능 파트의 주인공이 됩니다.</a:t>
            </a:r>
          </a:p>
          <a:p>
            <a:r>
              <a:t>【시간】 약 2분. NPU는 핵심이니 충분히.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NPU 데이터플로우를 세 개념으로 정리하겠습니다.</a:t>
            </a:r>
          </a:p>
          <a:p>
            <a:r>
              <a:t>【핵심 설명】 ① output-stationary: 누산기는 PE에 고정, 데이터가 흘러갑니다. ② skew feed: A는 A[i][t−i], B는 B[t−j][j] 형태로 한 칸씩 어긋나게(대각선으로) 밀어넣어, 각 PE에 맞는 값이 정확한 타이밍에 도착하게 합니다. ③ requantize: INT32 누산 결과에 배수를 곱하고 시프트로 나눈 뒤 잘라내(clip) INT8로 — 양자화 추론에 필요한 스케일링입니다.</a:t>
            </a:r>
          </a:p>
          <a:p>
            <a:r>
              <a:t>【핵심 설명 - 타이밍】 아래 박스가 중요합니다. t_last = K + 2N − 2 가 이 스큐 파이프라인의 총 길이입니다. 여기서 스크래치패드 출력을 한 단 레지스터로 끊어주면, 모든 입력 스트림이 똑같이 한 사이클씩 밀리기 때문에 결과는 비트 단위로 동일하면서 임계경로만 짧아집니다. 이 '값은 그대로, 타이밍만 분할' 아이디어가 성능 최적화의 세 번째 수정입니다.</a:t>
            </a:r>
          </a:p>
          <a:p>
            <a:r>
              <a:t>【시간】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그럼 실제로 행렬곱 한 번이 어떻게 실행되는지, 시퀀스로 따라가 보겠습니다.</a:t>
            </a:r>
          </a:p>
          <a:p>
            <a:r>
              <a:t>【핵심 설명】 ① 호스트가 ctrl_axi로 RV32에 드라이버 프로그램을 적재합니다. ② RV32가 store 명령으로 A·B 행렬과 K 값을 NPU에 써넣습니다. ③ CTRL에 start를 쓰면 ④ NPU가 K+2N−2 사이클 동안 혼자 시스톨릭 연산을 돌립니다. ⑤ RV32는 STATUS의 done 비트를 폴링하다가 ⑥ 완료되면 결과 C를 읽어 레지스터에 담고 ⑦ 호스트가 그 값을 회수합니다.</a:t>
            </a:r>
          </a:p>
          <a:p>
            <a:r>
              <a:t>【화면 짚기】 가운데 노란 박스가 'NPU 혼자 연산하는 구간'입니다. 이 동안 코어는 폴링만 합니다.</a:t>
            </a:r>
          </a:p>
          <a:p>
            <a:r>
              <a:t>【강조】 즉 코어 입장에서 NPU는 '값 써넣고, 시작 누르고, 다 됐는지 보고, 읽는' 네 동작이 전부입니다. 아주 단순한 프로토콜입니다.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지금까지 본 것이 코드로는 어떻게 구성돼 있는지 모듈 트리로 한눈에 보겠습니다.</a:t>
            </a:r>
          </a:p>
          <a:p>
            <a:r>
              <a:t>【핵심 설명】 최상위 rv32_top(블록 디자인) 아래에 PS(ps7), 클럭 생성기(clk_wiz/MMCM), AXI 인터커넥트, 그리고 우리 rv32_platform이 있습니다. 플랫폼 안에는 ctrl_axi, RV32 코어(내부에 11개 유닛 — ALU·레지스터파일·해저드·forwarding·CSR 등), 캐시, 그리고 mmio_bridge가 있고, 그 아래 NPU가 npu_top16 → npu_array → npu_pe 3계층으로 들어갑니다.</a:t>
            </a:r>
          </a:p>
          <a:p>
            <a:r>
              <a:t>【강조】 하단에 검증 인프라와 호스트 소프트웨어(Python 어셈블러·GUI)까지 — 이 모든 것이 가져다 쓴 게 아니라 직접 작성한 RTL과 툴체인입니다.</a:t>
            </a:r>
          </a:p>
          <a:p>
            <a:r>
              <a:t>【시간】 약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【전환 멘트】 여기까지가 '무엇을 만들었는가'였습니다. 이제 두 번째 축, '그게 정말 맞게 동작하는가'를 어떻게 증명했는지로 넘어갑니다.</a:t>
            </a:r>
          </a:p>
          <a:p>
            <a:r>
              <a:t>【강조】 검증은 두 축입니다 — 시뮬레이션의 골든 모델과, 실제 보드. 이 둘이 만나야 '동작한다'고 말할 수 있습니다.</a:t>
            </a:r>
          </a:p>
          <a:p>
            <a:r>
              <a:t>【시간】 약 15~20초. 섹션 표지이니 짧게.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검증은 4중으로 쌓았습니다. 아래로 갈수록 신뢰도가 올라갑니다.</a:t>
            </a:r>
          </a:p>
          <a:p>
            <a:r>
              <a:t>【핵심 설명】 ① ISS 골든: Python으로 명령어 시뮬레이터를 만들어 '정답'으로 삼았습니다. 모든 결과의 기준입니다. ② 회귀 100+: 무작위·경계값 프로그램 100개 이상을 RTL과 ISS에 동시에 돌려 자동 비교합니다. ③ NPU 전용 테스트벤치: GEMM, 256개 PE의 공간적 코너, 누산, 랜덤, requantize까지 1만 8천6백88건을 xsim에서 검증합니다. ④ 실보드: ctrl_axi로 실제 XC7Z020에서 GEMM을 돌려 골든과 대조합니다.</a:t>
            </a:r>
          </a:p>
          <a:p>
            <a:r>
              <a:t>【강조 - 핵심】 아래 박스가 가장 중요합니다. 우리의 모든 최적화는 '지연(latency)만 바꾸고 값은 절대 바꾸지 않는' 변환이었습니다. 그래서 RTL을 고칠 때마다 1만 8천여 건을 매번 다시 돌려 0 오류를 유지했습니다. 이 '불변 보장' 원칙이 뒤의 공격적인 성능 최적화를 안전하게 만들었습니다.</a:t>
            </a:r>
          </a:p>
          <a:p>
            <a:r>
              <a:t>【시간】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가장 현실적인 고비를 솔직하게 공유하겠습니다. 보드의 DDR 메모리가 물리적으로 불량이었습니다.</a:t>
            </a:r>
          </a:p>
          <a:p>
            <a:r>
              <a:t>【핵심 설명 - 도전】 표준 부팅은 BOOT.bin을 DDR에 올려 실행하는 방식인데, DDR이 죽어 있으니 이 경로 자체가 막혔습니다. 처음엔 보드가 아예 안 되는 것처럼 보였습니다.</a:t>
            </a:r>
          </a:p>
          <a:p>
            <a:r>
              <a:t>【핵심 설명 - 해결】 발상을 바꿔서, JTAG를 통해 ctrl_axi로 RV32의 명령어 메모리에 프로그램을 직접 써넣고 코어를 실행시켰습니다. 즉 DDR이나 OCM 같은 큰 메모리 없이도 코어와 NPU의 전 기능을 실제 실리콘에서 검증할 수 있었습니다.</a:t>
            </a:r>
          </a:p>
          <a:p>
            <a:r>
              <a:t>【화면 짚기】 오른쪽 콘솔이 그 증거입니다. 100MHz에서 타이밍 여유 +0.085나노초에 실패 경로 0개, 그리고 검증 1만 8천여 건 0 오류.</a:t>
            </a:r>
          </a:p>
          <a:p>
            <a:r>
              <a:t>【강조】 교훈 하나 — 시뮬레이션에서는 절대 안 보이던 문제를 실제 하드웨어가 가르쳐줬고, 막힌 길을 우회하는 설계로 끝까지 검증을 완료했습니다.</a:t>
            </a:r>
          </a:p>
          <a:p>
            <a:r>
              <a:t>【예상 질문】 'DDR은 왜 불량인가' → 보드 개체의 하드웨어 이슈로 추정되며, 우회 경로로 기능 검증은 완결했다고 답합니다.</a:t>
            </a:r>
          </a:p>
          <a:p>
            <a:r>
              <a:t>【시간】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【전환 멘트】 자, 이제 오늘의 핵심입니다. 우리는 '동작한다'에서 멈추지 않았습니다.</a:t>
            </a:r>
          </a:p>
          <a:p>
            <a:r>
              <a:t>【강조】 이 파트의 한 문장: 측정으로 진짜 병목을 찾아내고, 결과 값을 단 한 비트도 바꾸지 않으면서 클럭을 끝까지 올린다. 이게 어떻게 가능했는지 보겠습니다.</a:t>
            </a:r>
          </a:p>
          <a:p>
            <a:r>
              <a:t>【시간】 약 20초.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최적화의 출발은 언제나 측정입니다. 그리고 측정 결과는 제 직관을 배신했습니다.</a:t>
            </a:r>
          </a:p>
          <a:p>
            <a:r>
              <a:t>【핵심 설명】 보통 '연산기(MAC)가 많으니 거기가 느리겠지'라고 생각합니다. 그런데 타이밍 리포트를 보니 모든 PE 간 경로는 0.5나노초로 여유가 넘쳤습니다. 진짜 병목은 엉뚱한 곳, 즉 256개 누산기 중 하나를 골라 코어로 꺼내오는 '256대 1 읽기 먹스(mux)'였습니다. 이게 로직 34단을 거치며 26.7나노초가 걸렸고, 이것 하나가 Fmax를 37MHz로 묶고 있었습니다.</a:t>
            </a:r>
          </a:p>
          <a:p>
            <a:r>
              <a:t>【화면 짚기】 왼쪽 before/after 그림 — 빨강이 개선 전 조합 회로, 초록이 개선 후 파이프라인입니다.</a:t>
            </a:r>
          </a:p>
          <a:p>
            <a:r>
              <a:t>【강조 - 교훈】 두 가지입니다. ① 추측하지 말고 측정하라. ② 가속기의 본체가 아니라, 결과를 꺼내는 '인터페이스'가 속도를 잡고 있었다. 연산이 아니라 입출력이 한계였던 겁니다.</a:t>
            </a:r>
          </a:p>
          <a:p>
            <a:r>
              <a:t>【시간】 약 2분.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그래서 세 군데를 파이프라인으로 끊었습니다. 표를 v1에서 v4까지 따라가겠습니다.</a:t>
            </a:r>
          </a:p>
          <a:p>
            <a:r>
              <a:t>【핵심 설명 - 수정①】 256대 1 읽기 먹스를 '열 선택 → 행 선택' 두 단계로 쪼갰습니다. 26.7나노초가 13.3으로 줄고 클럭은 37에서 75MHz로. 덤으로 배선 혼잡이 풀려서 빌드 시간이 1시간 17분에서 8분으로 줄었습니다.</a:t>
            </a:r>
          </a:p>
          <a:p>
            <a:r>
              <a:t>【핵심 설명 - 수정②】 requantize의 32×17 곱셈을 LUT 대신 DSP로 옮기고, 곱셈 → 시프트 → 클립으로 단계를 나눴습니다. 94MHz까지 올라갔습니다.</a:t>
            </a:r>
          </a:p>
          <a:p>
            <a:r>
              <a:t>【핵심 설명 - 수정③】 시스톨릭 t-카운터가 스크래치패드를 읽어 PE로 보내는 경로를 한 단 레지스터로 끊었습니다. 실패 경로가 817개에서 0개로, 100MHz를 닫았습니다.</a:t>
            </a:r>
          </a:p>
          <a:p>
            <a:r>
              <a:t>【강조】 세 수정 모두 MAC 어레이는 한 줄도 건드리지 않았습니다. 읽기 지연만 5사이클 늘었는데, 이건 브릿지가 stall로 처리해서 소프트웨어는 전혀 모릅니다. 그리고 매 단계 1만 8천여 건을 다시 검증했습니다.</a:t>
            </a:r>
          </a:p>
          <a:p>
            <a:r>
              <a:t>【시간】 약 2.5분. 이 슬라이드가 기술적 클라이맥스입니다.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100MHz를 닫고 나서, 더 욕심을 냈습니다. 세 단계로 설명합니다.</a:t>
            </a:r>
          </a:p>
          <a:p>
            <a:r>
              <a:t>【핵심 설명】 STEP1 — 100MHz는 타이밍 여유 +0.085로 깔끔하게 닫혔고, 마침 PS 클럭 FCLK0를 10으로 나누면 정확히 100MHz라 별도 장치가 필요 없었습니다. STEP2 — 합성 단계의 retiming, 즉 레지스터 자동 재배치를 켜니 이론상 한계(Fmax)가 110.8MHz까지 올라갔습니다. STEP3 — 그런데 110.8은 정수 분주로 안 떨어집니다(9로 나누면 111로 초과). 그래서 MMCM이라는 클럭 합성기로 100을 받아 106MHz를 정확히 만들었습니다.</a:t>
            </a:r>
          </a:p>
          <a:p>
            <a:r>
              <a:t>【핵심 설명 - 벽】 아래 박스: 리타이밍 이후의 진짜 한계는 — 아까 8페이지에서 예고한 — RV32 코어의 load-use 해저드 경로였습니다. 5단 파이프라인의 본질적 한계라 배치를 손봐도(블라인드 플로어플랜) 중립이었습니다. 그래서 약 110MHz가 이 구조의 천장이고, 안전 마진을 둔 실보드 동작점이 106MHz입니다.</a:t>
            </a:r>
          </a:p>
          <a:p>
            <a:r>
              <a:t>【예상 질문】 '왜 110이 아니라 106이냐' → 110.8은 가장 느린 공정 코너(worst-case) 기준 이론값이고, 분주 정합과 안전 마진을 고려한 실동작점이 106이라고 답합니다.</a:t>
            </a:r>
          </a:p>
          <a:p>
            <a:r>
              <a:t>【시간】 약 2.5분.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전체 여정을 한 그래프로 보겠습니다.</a:t>
            </a:r>
          </a:p>
          <a:p>
            <a:r>
              <a:t>【핵심 설명】 원래 16×16은 50MHz에서 실패했고, 데모용으로 30까지 낮췄던 것을, 읽기 먹스 파이프라인으로 75, requantize로 94, t-카운터로 100, 그리고 리타이밍과 MMCM으로 106까지 올렸습니다.</a:t>
            </a:r>
          </a:p>
          <a:p>
            <a:r>
              <a:t>【강조 - 세 메시지】 ① 막대 하나하나가 전부 실보드에서 검증된 값입니다 — 시뮬만이 아닙니다. ② MAC 어레이는 끝까지 무변경입니다. ③ 8×8 기준 대비 클럭 2배 × 연산기 4배 = 약 8배의 INT8 피크 성능입니다. 정확성을 한 번도 희생하지 않고 이뤘다는 점이 핵심입니다.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말로만 하면 안 되니, 실제 구동 증거를 보여드립니다.</a:t>
            </a:r>
          </a:p>
          <a:p>
            <a:r>
              <a:t>【핵심 설명】 왼쪽은 JTAG로 ctrl_axi를 통해 106MHz(MMCM)에서 GEMM을 실행한 콘솔 로그입니다. BOARD-GEMM-MMCM-106MHZ: PASS가 보입니다. 오른쪽은 Vivado 구현 결과로, 실제 배치와 배선, 타이밍이 닫힌 모습입니다.</a:t>
            </a:r>
          </a:p>
          <a:p>
            <a:r>
              <a:t>【화면 짚기】 아래 검은 띠 — 결과 C가 [[39,53],[17,23]]로 골든과 정확히 일치합니다. 시뮬레이션이 아니라 실제 XC7Z020 실리콘에서 나온 값입니다.</a:t>
            </a:r>
          </a:p>
          <a:p>
            <a:r>
              <a:t>【강조】 '동작 영상이나 실측 로그를 항상 준비하라'는 게 하드웨어 발표의 기본인데, 이 슬라이드가 그 역할을 합니다.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【오프닝】 정리하며, 이 프로젝트에서 얻은 교훈과 다음 단계를 말씀드립니다.</a:t>
            </a:r>
          </a:p>
          <a:p>
            <a:r>
              <a:t>【핵심 설명 - 교훈】 ① 측정 후 최적화 — 병목은 MAC이 아니라 읽기 경로였습니다. ② 인터페이스가 임계경로 — 연산 본체보다 입출력이 클럭을 결정합니다. ③ 실 하드웨어는 시뮬과 다르다 — DDR 불량이 그 예입니다. ④ 불변 변환으로 가속 — 값은 보존하고 타이밍만 나누면 손실 없이 빨라집니다.</a:t>
            </a:r>
          </a:p>
          <a:p>
            <a:r>
              <a:t>【핵심 설명 - 향후】 ① DDR 복구 또는 외부 메모리로 표준 부팅 복원. ② M(곱셈/나눗셈)·C(압축) 명령어 확장과 인터럽트. ③ 16×16을 넘는 큰 행렬을 타일로 쪼개고 AXI-DMA로 스트리밍. ④ 코어 해저드 경로를 재구조화해 110MHz 벽 돌파 시도.</a:t>
            </a:r>
          </a:p>
          <a:p>
            <a:r>
              <a:t>【시간】 약 1.5분.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【클로징 멘트】 한 문장으로 마무리하겠습니다. 'RISC-V RV32I 코어와 INT8 NPU를 RTL부터 직접 만들어, 실제 XC7Z020에서 106MHz로 정확히 구동시켰습니다.' 정확성은 지키고, 속도는 한계까지 — 그것이 이 프로젝트입니다.</a:t>
            </a:r>
          </a:p>
          <a:p>
            <a:r>
              <a:t>【화면 짚기】 아래 세 지표(37→106MHz, DSP 100%, 골든 일치)를 마지막으로 한 번 더 짚어줍니다.</a:t>
            </a:r>
          </a:p>
          <a:p>
            <a:r>
              <a:t>【Q&amp;A 준비 - 자주 나올 질문】 ① 왜 106이고 110이 아닌가 → 슬로우 코너 마진과 분주 정합. ② DSP 100%인데 더 키우려면 → 행렬 타일링과 DMA 스트리밍. ③ DDR은 왜 불량인가 → 보드 개체 이슈, 우회 경로로 기능 검증 완결. ④ 상용 코어 대비 의의 → 전 스택을 직접 설계·검증한 학습·제어 가능성.</a:t>
            </a:r>
          </a:p>
          <a:p>
            <a:r>
              <a:t>【마무리】 감사합니다. 질문 받겠습니다.</a:t>
            </a:r>
          </a:p>
          <a:p>
            <a:r>
              <a:t>【시간】 약 1분 +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73836"/>
            <a:ext cx="5669280" cy="4818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18872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FD4E6"/>
                </a:solidFill>
                <a:latin typeface="맑은 고딕"/>
                <a:ea typeface="맑은 고딕"/>
              </a:rPr>
              <a:t>FPGA SoC  ·  프로젝트 결과 보고회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91056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</a:rPr>
              <a:t>RV32-FullStack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24912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맑은 고딕"/>
                <a:ea typeface="맑은 고딕"/>
              </a:rPr>
              <a:t>RISC-V RV32I 소프트코어 + INT8 systolic NPU를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FE0F2"/>
                </a:solidFill>
                <a:latin typeface="맑은 고딕"/>
                <a:ea typeface="맑은 고딕"/>
              </a:rPr>
              <a:t>FPGA에 직접 구현한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37→106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PL 클럭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256 MAC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16×16 INT8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86200"/>
            <a:ext cx="1691640" cy="91440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23360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맑은 고딕"/>
                <a:ea typeface="맑은 고딕"/>
              </a:rPr>
              <a:t>18,688/0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9884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FE0F2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발표자 김성민</a:t>
            </a:r>
            <a:r>
              <a:rPr sz="1200" b="0" i="0">
                <a:solidFill>
                  <a:srgbClr val="CFE0F2"/>
                </a:solidFill>
                <a:latin typeface="맑은 고딕"/>
                <a:ea typeface="맑은 고딕"/>
              </a:rPr>
              <a:t>      Zynq XC7Z020 · Vivado 2025.2 ·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21792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FC2E6"/>
                </a:solidFill>
                <a:latin typeface="맑은 고딕"/>
                <a:ea typeface="맑은 고딕"/>
              </a:rPr>
              <a:t>설계  →  검증  →  성능 최적화  →  결과 · 교훈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2103120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33856" y="2103120"/>
            <a:ext cx="841248" cy="84124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231343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2212848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680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942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시스템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49424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아키텍처 · RV32 5-stage 코어 · 16×16 NPU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127248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127248"/>
            <a:ext cx="841248" cy="84124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3337560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6000" y="3236976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6FAA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7355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73552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ISS 골든 시뮬레이션 + 실보드 GEMM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151376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3856" y="4151376"/>
            <a:ext cx="841248" cy="84124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art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4361688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86000" y="4261104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9B5C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성능 최적화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97680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임계경로 진단 → 파이프라이닝 → 37→106 MHz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5175504"/>
            <a:ext cx="9692640" cy="8412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856" y="5175504"/>
            <a:ext cx="841248" cy="84124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o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5385816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0" y="528523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0992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2180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1303F"/>
                </a:solidFill>
                <a:latin typeface="맑은 고딕"/>
                <a:ea typeface="맑은 고딕"/>
              </a:rPr>
              <a:t>결과 · 교훈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21808"/>
            <a:ext cx="5120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94A8"/>
                </a:solidFill>
                <a:latin typeface="맑은 고딕"/>
                <a:ea typeface="맑은 고딕"/>
              </a:rPr>
              <a:t>실측 구동 화면 · 설계 교훈 · 향후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개요 · 동기  —  상용 IP 없이, RTL부터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파이프라인·해저드·systolic·timing closure를 직접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상용 RISC-V 코어·NPU IP 대신 </a:t>
            </a:r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명령어 파이프라인·해저드·systolic 데이터플로우·timing closure</a:t>
            </a: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를 직접 설계·검증.  프로세서이기에 정확성은 기본, </a:t>
            </a:r>
            <a:r>
              <a:rPr sz="1400" b="1" i="0">
                <a:solidFill>
                  <a:srgbClr val="F0992A"/>
                </a:solidFill>
                <a:latin typeface="맑은 고딕"/>
                <a:ea typeface="맑은 고딕"/>
              </a:rPr>
              <a:t>속도(Fmax)가 곧 가치</a:t>
            </a:r>
            <a:r>
              <a:rPr sz="1400" b="0" i="0">
                <a:solidFill>
                  <a:srgbClr val="44566A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8094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3111337"/>
            <a:ext cx="306141" cy="30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3895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동작하는 코어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RV32I 전 명령어 + FENCE.I, 5-stage 파이프라인, 캐시·트랩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9704" y="298094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3111337"/>
            <a:ext cx="306141" cy="306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59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INT8 GEMM 가속기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16×16 output-stationary systolic array, 256 MAC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2788920"/>
            <a:ext cx="3511296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2167" y="298094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3111337"/>
            <a:ext cx="306141" cy="306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78824" y="297180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실보드 + 속도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694176"/>
            <a:ext cx="3054096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Zynq 실리콘 구동, Fmax를 한계까지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범위: 호스트 어셈블러/GUI(Python) → PS(Cortex-A9) → PL(RV32 + NPU + 주변장치) 전 스택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03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결과 요약  ·  한눈에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RV32I 코어 + INT8 NPU SoC, 실 XC7Z020 검증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2048255"/>
            <a:ext cx="877824" cy="87782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15" y="2250155"/>
            <a:ext cx="474024" cy="474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37→106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MHz · PL 클럭 (2.7×)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64608" y="2048255"/>
            <a:ext cx="877824" cy="87782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507" y="2250155"/>
            <a:ext cx="474024" cy="4740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25312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INT8 MAC (16×16)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82880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799" y="2048255"/>
            <a:ext cx="877824" cy="87782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8699" y="2250155"/>
            <a:ext cx="474024" cy="4740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47503" y="210312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220/220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3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DSP48 · 100% 사용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" y="4151375"/>
            <a:ext cx="877824" cy="87782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315" y="4353275"/>
            <a:ext cx="474024" cy="474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103120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18,688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검증 checks · 0 error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64608" y="4151375"/>
            <a:ext cx="877824" cy="877824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o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6507" y="4353275"/>
            <a:ext cx="474024" cy="4740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25312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golden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C=[[39,53],[17,23]] 일치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3931920"/>
            <a:ext cx="3584448" cy="182880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799" y="4151375"/>
            <a:ext cx="877824" cy="877824"/>
          </a:xfrm>
          <a:prstGeom prst="ellipse">
            <a:avLst/>
          </a:prstGeom>
          <a:solidFill>
            <a:srgbClr val="8E5BA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8699" y="4353275"/>
            <a:ext cx="474024" cy="4740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7503" y="420624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1303F"/>
                </a:solidFill>
                <a:latin typeface="맑은 고딕"/>
                <a:ea typeface="맑은 고딕"/>
              </a:rPr>
              <a:t>+0.085 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491947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4566A"/>
                </a:solidFill>
                <a:latin typeface="맑은 고딕"/>
                <a:ea typeface="맑은 고딕"/>
              </a:rPr>
              <a:t>WNS · 0 failing 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04  /  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PS-host가 ctrl_axi로 PL의 RV32 + NPU를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7010117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863813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627632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5400" y="1773936"/>
            <a:ext cx="530352" cy="53035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380" y="1895916"/>
            <a:ext cx="286390" cy="286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64624" y="1792224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PS-host 제어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04872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Cortex-A9 / JTAG가 RV32 imem 적재·실행·readback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108960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0" y="3255264"/>
            <a:ext cx="530352" cy="53035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380" y="3377244"/>
            <a:ext cx="286390" cy="286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64624" y="3273552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ctrl_axi 경로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3886200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DDR 불량을 우회한 AXI-Lite 직접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590288"/>
            <a:ext cx="2971800" cy="13258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15400" y="4736592"/>
            <a:ext cx="530352" cy="530352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380" y="4858572"/>
            <a:ext cx="286390" cy="2863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64624" y="4754880"/>
            <a:ext cx="20116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3-계층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6" y="5367528"/>
            <a:ext cx="2651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Host SW → PS → PL(RV32+NPU)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05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하드웨어 플랫폼 — XC7Z020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Zynq-7000, PS-host 제어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53,200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LUT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106,400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Flip-Flop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1" y="1947672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1947672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DSP48E1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BRAM 36K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clock region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788920"/>
            <a:ext cx="3419856" cy="82296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2907791"/>
            <a:ext cx="2011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C5AA6"/>
                </a:solidFill>
                <a:latin typeface="맑은 고딕"/>
                <a:ea typeface="맑은 고딕"/>
              </a:rPr>
              <a:t>13,300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9" y="29077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94A8"/>
                </a:solidFill>
                <a:latin typeface="맑은 고딕"/>
                <a:ea typeface="맑은 고딕"/>
              </a:rPr>
              <a:t>SLICE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392" y="4169663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85" y="4300057"/>
            <a:ext cx="306141" cy="30614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27048" y="4160520"/>
            <a:ext cx="432511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Processing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4882896"/>
            <a:ext cx="4892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ARM Cortex-A9 + JTAG(XSDB). bare-metal 모니터 또는 ctrl_axi(0x4000_0000)로 PL을 직접 구동.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977639"/>
            <a:ext cx="5349240" cy="18288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4169663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065" y="4300057"/>
            <a:ext cx="306141" cy="3061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96328" y="4160520"/>
            <a:ext cx="432511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Programmable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882896"/>
            <a:ext cx="48920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RV32 코어 + 16×16 NPU + 주변장치 (Pmod JA~JE 40핀: SPI×2·I2C×2·UART·PWM·GPIO).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06  /  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SoC 블록도 — rv32_platform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단일 PL 클럭 · ctrl_axi 슬레이브 · mmio_bridge 디코드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5443" y="1435607"/>
            <a:ext cx="7050633" cy="45811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595" y="1508760"/>
            <a:ext cx="6904329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FCLK0 100 MHz → clk_wiz(MMCM) → 106 MHz 단일 PL 클럭 · 0x1xxx MMIO / 0x3xxx NPU 단일사이클 디코드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07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RV32I 코어 — 5단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IF · ID · EX · MEM · WB + forwarding / hazard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896798" cy="4169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750494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33104" y="1764792"/>
            <a:ext cx="493776" cy="493776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672" y="1878360"/>
            <a:ext cx="266639" cy="2666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36608" y="17647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RV32I + FENCE.I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4816" y="23500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전 정수 명령어 + 자기수정코드/I캐시 무효화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9992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33104" y="3136392"/>
            <a:ext cx="493776" cy="493776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672" y="3249960"/>
            <a:ext cx="266639" cy="266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36608" y="31363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Forwarding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37216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EX/MEM·MEM/WB 우회로 데이터 해저드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4370832"/>
            <a:ext cx="3063240" cy="122529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33104" y="4507992"/>
            <a:ext cx="493776" cy="493776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6672" y="4621560"/>
            <a:ext cx="266639" cy="2666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36608" y="4507992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Load-use hazard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5093208"/>
            <a:ext cx="26974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1-cycle stall — 고클럭에서 임계경로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08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메모리 맵 · MMIO 레지스터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단일 주소공간 — lw/sw 만으로 NPU 구동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5943599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874519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Offset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ctrl_axi reg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field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CTRL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b0 cpu_reset · b1 run_en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STATUS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b0 halted · b2 run_en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0x08/0x0C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IMEM_ADDR/WDATA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명령어 메모리 적재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0x18/0x1C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REG_ADDR/RDATA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레지스터 readback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program counter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0x2C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COMMIT_CNT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retired 명령 수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84848" y="1691640"/>
          <a:ext cx="484632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2697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NPU 0x3000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0x0000/04/08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CTRL / STATUS / K_DIM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0x1000+...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A 타일 (16×16 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0x2000+...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B 타일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0x3000+...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 결과 (INT32/INT8)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Consolas"/>
                          <a:ea typeface="맑은 고딕"/>
                        </a:rPr>
                        <a:t>CTRL=0x3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start | clr_acc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RV32 프로그램은 lw/sw 만으로 NPU를 구동 — 별도 DMA·드라이버 스택 불필요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09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NPU — 16×16 systolic GEMM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output-stationary · 256 MAC · INT8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63039"/>
            <a:ext cx="6704711" cy="46725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n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558407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41080" y="162763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87968" y="1773936"/>
            <a:ext cx="512064" cy="51206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42" y="1891710"/>
            <a:ext cx="276514" cy="2765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28048" y="178308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Output-stationary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39572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각 PE가 C[i][j] 누산기를 고정 보유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309067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87968" y="3236976"/>
            <a:ext cx="512064" cy="512064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742" y="3354750"/>
            <a:ext cx="276514" cy="2765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8048" y="324612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256 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5876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200× DSP48 + 56× LUT-MAC (DSP 100%)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553712"/>
            <a:ext cx="3017520" cy="1316736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87968" y="4700016"/>
            <a:ext cx="512064" cy="51206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742" y="4817790"/>
            <a:ext cx="276514" cy="2765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8048" y="4709160"/>
            <a:ext cx="2057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INT8 → INT32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32180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030" b="0" i="0">
                <a:solidFill>
                  <a:srgbClr val="44566A"/>
                </a:solidFill>
                <a:latin typeface="맑은 고딕"/>
                <a:ea typeface="맑은 고딕"/>
              </a:rPr>
              <a:t>곱 누산 후 requantize로 INT8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10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NPU 데이터플로우 · requantize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output-stationary · skew feed · 양자화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2938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2059777"/>
            <a:ext cx="306141" cy="306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3895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Output-stationary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누산기는 PE에 고정. A는 좌→우, B는 상→하 전파하며 매 사이클 곱-누산.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92938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097" y="2059777"/>
            <a:ext cx="306141" cy="3061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Skew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A[i][t−i]·B[t−j][j] 대각 정렬. 스크래치패드 출력을 레지스터링해 임계경로 단축.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37360"/>
            <a:ext cx="3511296" cy="2057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02167" y="192938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561" y="2059777"/>
            <a:ext cx="306141" cy="30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8824" y="192024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Requantize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642615"/>
            <a:ext cx="3054096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INT32 누산 → ×m → &gt;&gt;shift → clip → INT8. 양자화 추론용 스케일링.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타이밍 핵심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26864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21303F"/>
                </a:solidFill>
                <a:latin typeface="Consolas"/>
                <a:ea typeface="맑은 고딕"/>
              </a:rPr>
              <a:t>t_last = K + 2N − 2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 — 스크래치패드 출력 a_west/b_north를 한 단 레지스터링하면 전 입력이 1사이클 균일 이동 → </a:t>
            </a:r>
            <a:r>
              <a:rPr sz="1200" b="1" i="0">
                <a:solidFill>
                  <a:srgbClr val="6FAA3A"/>
                </a:solidFill>
                <a:latin typeface="맑은 고딕"/>
                <a:ea typeface="맑은 고딕"/>
              </a:rPr>
              <a:t>결과는 bit-identical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, 임계경로만 분할.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11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제어 흐름 — GEMM 호출 시퀀스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host → RV32 →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91032" y="1435607"/>
            <a:ext cx="6979454" cy="45354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184" y="1508760"/>
            <a:ext cx="683315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호스트가 RV32 드라이버 적재 → sw로 A·B·K 기록, CTRL=start → NPU가 K+2N−2 사이클 연산 → STATUS 폴링 후 C readback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12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프로그램 · 모듈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rv32_top → platform → core / NPU 계층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9854" y="1435607"/>
            <a:ext cx="7121811" cy="46268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od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06" y="1508760"/>
            <a:ext cx="6975507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rv32_top(BD) → ps7 · clk_wiz · axi_smc · rv32_platform{ ctrl_axi · rv32_core · I$/D$ · mmio_bridge → npu_top16 → npu_array → npu_pe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13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맑은 고딕"/>
                <a:ea typeface="맑은 고딕"/>
              </a:rPr>
              <a:t>02  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맑은 고딕"/>
                <a:ea typeface="맑은 고딕"/>
              </a:rPr>
              <a:t>시뮬레이션 골든 모델과 실 보드, 두 축으로 — '동작한다'를 증명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맑은 고딕"/>
                <a:ea typeface="맑은 고딕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검증 방법론 — 4중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ISS 골든 → 회귀 → NPU TB → 실 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3" y="2039112"/>
            <a:ext cx="713232" cy="713232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47" y="2203155"/>
            <a:ext cx="385145" cy="3851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1. ISS 골든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Python 명령어 시뮬레이터 = 기준 모델, 모든 결과의 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3824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039112"/>
            <a:ext cx="713232" cy="713232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11" y="2203155"/>
            <a:ext cx="385145" cy="3851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2. 회귀 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무작위/경계 프로그램 100+개를 RTL vs ISS 자동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14032" y="2039112"/>
            <a:ext cx="713232" cy="713232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075" y="2203155"/>
            <a:ext cx="385145" cy="3851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3. NPU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18,688 checks — GEMM·256 PE 공간코너·누산·랜덤·requant (xsim)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6974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9B5C9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1828800"/>
            <a:ext cx="2615184" cy="22402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12095" y="2039112"/>
            <a:ext cx="713232" cy="713232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139" y="2203155"/>
            <a:ext cx="385145" cy="3851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3999" y="288950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1303F"/>
                </a:solidFill>
                <a:latin typeface="맑은 고딕"/>
                <a:ea typeface="맑은 고딕"/>
              </a:rPr>
              <a:t>4. 실 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3291840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44566A"/>
                </a:solidFill>
                <a:latin typeface="맑은 고딕"/>
                <a:ea typeface="맑은 고딕"/>
              </a:rPr>
              <a:t>ctrl_axi로 실제 XC7Z020에서 GEMM 실행, 골든과 대조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434840"/>
            <a:ext cx="11064240" cy="1234440"/>
          </a:xfrm>
          <a:prstGeom prst="roundRect">
            <a:avLst>
              <a:gd name="adj" fmla="val 7000"/>
            </a:avLst>
          </a:prstGeom>
          <a:solidFill>
            <a:srgbClr val="EAF3DC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476402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29" y="4894417"/>
            <a:ext cx="306141" cy="30614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783080" y="457200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불변 보장   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파이프라인·캐시·skew 변경은 모두 </a:t>
            </a:r>
            <a:r>
              <a:rPr sz="1200" b="1" i="0">
                <a:solidFill>
                  <a:srgbClr val="21303F"/>
                </a:solidFill>
                <a:latin typeface="맑은 고딕"/>
                <a:ea typeface="맑은 고딕"/>
              </a:rPr>
              <a:t>지연만 바꾸고 값은 동일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각 RTL 단계마다 18,688 checks 재실행, 0 error 유지.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15  / 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실보드 브링업 — DDR 우회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DDR 불량을 ctrl_axi로 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23317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E8523F"/>
                </a:solidFill>
                <a:latin typeface="맑은 고딕"/>
                <a:ea typeface="맑은 고딕"/>
              </a:rPr>
              <a:t>도전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보드 DDR이 물리 불량 — 표준 부팅(BOOT.bin/DDR) 경로가 막힘.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6FAA3A"/>
                </a:solidFill>
                <a:latin typeface="맑은 고딕"/>
                <a:ea typeface="맑은 고딕"/>
              </a:rPr>
              <a:t>해결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JTAG → ctrl_axi로 RV32 imem을 직접 적재·실행. </a:t>
            </a: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DDR/OCM 없이도</a:t>
            </a:r>
            <a:r>
              <a:rPr sz="1250" b="0" i="0">
                <a:solidFill>
                  <a:srgbClr val="44566A"/>
                </a:solidFill>
                <a:latin typeface="맑은 고딕"/>
                <a:ea typeface="맑은 고딕"/>
              </a:rPr>
              <a:t> 코어·NPU 전 기능을 실리콘에서 검증.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19202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6FA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1596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FAA3A"/>
                </a:solidFill>
                <a:latin typeface="맑은 고딕"/>
                <a:ea typeface="맑은 고딕"/>
              </a:rPr>
              <a:t>WNS +0.085 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4297680"/>
            <a:ext cx="169164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68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431596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680D4"/>
                </a:solidFill>
                <a:latin typeface="맑은 고딕"/>
                <a:ea typeface="맑은 고딕"/>
              </a:rPr>
              <a:t>0 failing 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508760" cy="402336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F09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315968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0992A"/>
                </a:solidFill>
                <a:latin typeface="맑은 고딕"/>
                <a:ea typeface="맑은 고딕"/>
              </a:rPr>
              <a:t>18,688 /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894347"/>
            <a:ext cx="5449824" cy="36636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_timing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67499"/>
            <a:ext cx="5303520" cy="3517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16  / 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143000" y="2103120"/>
            <a:ext cx="1371600" cy="13716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446020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2148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FD4E6"/>
                </a:solidFill>
                <a:latin typeface="맑은 고딕"/>
                <a:ea typeface="맑은 고딕"/>
              </a:rPr>
              <a:t>03  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064" y="2542032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CFE0F2"/>
                </a:solidFill>
                <a:latin typeface="맑은 고딕"/>
                <a:ea typeface="맑은 고딕"/>
              </a:rPr>
              <a:t>'동작'에서 멈추지 않는다 — 측정으로 병목을 찾고, 값을 바꾸지 않고 클럭을 올린다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A6C8"/>
                </a:solidFill>
                <a:latin typeface="맑은 고딕"/>
                <a:ea typeface="맑은 고딕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진단 — MAC 어레이는 병목이 아니었다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측정 후 최적화 · readback mux가 26.7 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481328"/>
            <a:ext cx="7632383" cy="41239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rea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486079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95360" y="1627632"/>
            <a:ext cx="3063240" cy="3931920"/>
          </a:xfrm>
          <a:prstGeom prst="roundRect">
            <a:avLst>
              <a:gd name="adj" fmla="val 7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33104" y="1828800"/>
            <a:ext cx="26517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모든 PE→PE 경로는 ~0.5 ns로 여유 충분.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진짜 임계경로는 </a:t>
            </a:r>
            <a:r>
              <a:rPr sz="1200" b="1" i="0">
                <a:solidFill>
                  <a:srgbClr val="21303F"/>
                </a:solidFill>
                <a:latin typeface="맑은 고딕"/>
                <a:ea typeface="맑은 고딕"/>
              </a:rPr>
              <a:t>256:1 누산기 readback mux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34단 로직, 26.7 ns.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0992A"/>
                </a:solidFill>
                <a:latin typeface="맑은 고딕"/>
                <a:ea typeface="맑은 고딕"/>
              </a:rPr>
              <a:t>교훈   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추측이 아니라 측정. 가속기 본체가 아니라 인터페이스가 클럭을 잡고 있었다.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18  / 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세 곳의 파이프라이닝 — Fmax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readback · requant · t-counter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6424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  <a:gridCol w="2743200"/>
                <a:gridCol w="150876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Build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NPU 변경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impl 전략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WNS@100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Fmax</a:t>
                      </a:r>
                    </a:p>
                  </a:txBody>
                  <a:tcPr marL="91440" marR="54864" marT="18288" marB="18288" anchor="ctr">
                    <a:solidFill>
                      <a:srgbClr val="1C5AA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v1 (orig)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combinational 256:1 readback mux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RuntimeOptimized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−6.74 @50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37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v2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3-stage readback (col→row→finalize)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phys_opt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−3.29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75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requant 5-stage pipeline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−0.60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94 MHz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 register scratchpad feed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Perf_Explore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+0.085 ✓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44566A"/>
                          </a:solidFill>
                          <a:latin typeface="맑은 고딕"/>
                          <a:ea typeface="맑은 고딕"/>
                        </a:rPr>
                        <a:t>≥100 MHz</a:t>
                      </a:r>
                    </a:p>
                  </a:txBody>
                  <a:tcPr marL="91440" marR="54864" marT="18288" marB="18288" anchor="ctr"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4261104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4391497"/>
            <a:ext cx="306141" cy="3061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3895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① readback mux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256:1 → col/row 분할. 26.7→13.3 ns, 라우팅 혼잡 해소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9704" y="4261104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4391497"/>
            <a:ext cx="306141" cy="306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66359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② requant 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32×17 곱을 DSP로 — multiply→shift→clip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5" y="4069080"/>
            <a:ext cx="3511296" cy="15544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2167" y="4261104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4391497"/>
            <a:ext cx="306141" cy="30614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78824" y="4251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③ t-counter 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974336"/>
            <a:ext cx="305409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4566A"/>
                </a:solidFill>
                <a:latin typeface="맑은 고딕"/>
                <a:ea typeface="맑은 고딕"/>
              </a:rPr>
              <a:t>스크래치패드 출력 레지스터링 → 817→0 failing 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79008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MAC 어레이는 무변경 · 읽기 지연만 5사이클(브릿지 stall로 SW에 투명) · 매 단계 18,688 checks 재검증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19  / 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100 MHz 클로즈 → 리타이밍 → MMCM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FCLK0÷10 · retiming 110.8 · MMCM 106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975103"/>
            <a:ext cx="566928" cy="566928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3" y="2105497"/>
            <a:ext cx="306141" cy="3061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3895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100 MHz 클로즈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WNS +0.085 ns, 0 failing EP. FCLK0 ÷10 = 정확히 100 MHz — MMCM 불필요.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1975103"/>
            <a:ext cx="566928" cy="56692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097" y="2105497"/>
            <a:ext cx="306141" cy="3061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리타이밍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합성 retiming(Flow_PerfOptimized_high)으로 레지스터 재배치 → Fmax 110.8 MHz.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1783080"/>
            <a:ext cx="3511296" cy="20116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02167" y="1975103"/>
            <a:ext cx="566928" cy="566928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561" y="2105497"/>
            <a:ext cx="306141" cy="30614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78824" y="1965960"/>
            <a:ext cx="24871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1303F"/>
                </a:solidFill>
                <a:latin typeface="맑은 고딕"/>
                <a:ea typeface="맑은 고딕"/>
              </a:rPr>
              <a:t>PL MMCM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688336"/>
            <a:ext cx="305409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4566A"/>
                </a:solidFill>
                <a:latin typeface="맑은 고딕"/>
                <a:ea typeface="맑은 고딕"/>
              </a:rPr>
              <a:t>110.8은 정수분주 불일치(÷9=111 초과). clk_wiz MMCM이 100→106 합성.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11064240" cy="1554480"/>
          </a:xfrm>
          <a:prstGeom prst="roundRect">
            <a:avLst>
              <a:gd name="adj" fmla="val 7000"/>
            </a:avLst>
          </a:prstGeom>
          <a:solidFill>
            <a:srgbClr val="FBEFD9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7" y="4590288"/>
            <a:ext cx="603504" cy="6035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053" y="4729093"/>
            <a:ext cx="325892" cy="3258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83080" y="4279392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1303F"/>
                </a:solidFill>
                <a:latin typeface="맑은 고딕"/>
                <a:ea typeface="맑은 고딕"/>
              </a:rPr>
              <a:t>아키텍처 한계 ≈ 110.8 MHz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45152"/>
            <a:ext cx="96926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리타이밍 후 worst 경로 = RV32 </a:t>
            </a:r>
            <a:r>
              <a:rPr sz="1150" b="1" i="0">
                <a:solidFill>
                  <a:srgbClr val="F0992A"/>
                </a:solidFill>
                <a:latin typeface="Consolas"/>
                <a:ea typeface="맑은 고딕"/>
              </a:rPr>
              <a:t>load-use hazard (exmem→ifid CE, ~75% 라우팅)</a:t>
            </a:r>
            <a:r>
              <a:rPr sz="1200" b="0" i="0">
                <a:solidFill>
                  <a:srgbClr val="44566A"/>
                </a:solidFill>
                <a:latin typeface="맑은 고딕"/>
                <a:ea typeface="맑은 고딕"/>
              </a:rPr>
              <a:t> — 5단 파이프라인 본질. blind 플로어플랜은 중립. </a:t>
            </a:r>
            <a:r>
              <a:rPr sz="1200" b="1" i="0">
                <a:solidFill>
                  <a:srgbClr val="6FAA3A"/>
                </a:solidFill>
                <a:latin typeface="맑은 고딕"/>
                <a:ea typeface="맑은 고딕"/>
              </a:rPr>
              <a:t>106 MHz가 안전한 실보드 동작점.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20  /  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r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Fmax 여정 — 37 → 106 MHz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매 단계 실보드 검증 · MAC 무변경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6345" y="1481328"/>
            <a:ext cx="7345868" cy="44439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f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497" y="1554480"/>
            <a:ext cx="7199564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2× 클럭 × 4× MAC(64→256) ≈ 8× peak INT8 throughput vs 8×8 baseline — 정확성 무손실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21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E8523F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실측 — 실리콘 구동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JTAG GEMM @106 MHz + Vivado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27048"/>
            <a:ext cx="5124140" cy="31181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board_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977836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81928" y="1527048"/>
            <a:ext cx="5449824" cy="23370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6F4"/>
            </a:solidFill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pl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303520" cy="2190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681728"/>
            <a:ext cx="5623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JTAG ctrl_axi GEMM @106 MHz (MMCM) — BOARD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8172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294A8"/>
                </a:solidFill>
                <a:latin typeface="맑은 고딕"/>
                <a:ea typeface="맑은 고딕"/>
              </a:rPr>
              <a:t>Vivado 구현 결과 — 배치·배선·타이밍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1109960" cy="566928"/>
          </a:xfrm>
          <a:prstGeom prst="roundRect">
            <a:avLst>
              <a:gd name="adj" fmla="val 12000"/>
            </a:avLst>
          </a:prstGeom>
          <a:solidFill>
            <a:srgbClr val="12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93792"/>
            <a:ext cx="11109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FE3B0"/>
                </a:solidFill>
                <a:latin typeface="Consolas"/>
                <a:ea typeface="맑은 고딕"/>
              </a:rPr>
              <a:t>BOARD-GEMM-MMCM-106MHZ : PASS     </a:t>
            </a:r>
            <a:r>
              <a:rPr sz="1300" b="0" i="0">
                <a:solidFill>
                  <a:srgbClr val="CFE0F2"/>
                </a:solidFill>
                <a:latin typeface="Consolas"/>
                <a:ea typeface="맑은 고딕"/>
              </a:rPr>
              <a:t>C = [[39, 53], [17, 23]]  =  golden   (real XC7Z020)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22  /  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585216"/>
            <a:ext cx="658368" cy="658368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8" y="736640"/>
            <a:ext cx="355518" cy="355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4752" y="530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1303F"/>
                </a:solidFill>
                <a:latin typeface="맑은 고딕"/>
                <a:ea typeface="맑은 고딕"/>
              </a:rPr>
              <a:t>교훈 · 향후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0607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294A8"/>
                </a:solidFill>
                <a:latin typeface="맑은 고딕"/>
                <a:ea typeface="맑은 고딕"/>
              </a:rPr>
              <a:t>설계 교훈과 다음 단계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645919"/>
            <a:ext cx="457200" cy="457200"/>
          </a:xfrm>
          <a:prstGeom prst="ellipse">
            <a:avLst/>
          </a:prstGeom>
          <a:solidFill>
            <a:srgbClr val="268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1751075"/>
            <a:ext cx="246888" cy="246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16916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5AA6"/>
                </a:solidFill>
                <a:latin typeface="맑은 고딕"/>
                <a:ea typeface="맑은 고딕"/>
              </a:rPr>
              <a:t>설계 교훈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3865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측정 후 최적화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병목은 MAC이 아니라 readback — 타이밍 리포트로 진단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300984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인터페이스가 임계경로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연산 본체보다 데이터 입출력 경로가 클럭을 결정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153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실 HW ≠ 시뮬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DDR 불량 — 실리콘에서만 드러나는 문제, 우회 설계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129783"/>
            <a:ext cx="146304" cy="146304"/>
          </a:xfrm>
          <a:prstGeom prst="ellipse">
            <a:avLst/>
          </a:prstGeom>
          <a:solidFill>
            <a:srgbClr val="6FA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9200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불변 변환으로 가속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파이프라인·skew 이동은 값 보존, 손실 없이 Fmax↑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1645919"/>
            <a:ext cx="457200" cy="457200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art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751075"/>
            <a:ext cx="246888" cy="2468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0992A"/>
                </a:solidFill>
                <a:latin typeface="맑은 고딕"/>
                <a:ea typeface="맑은 고딕"/>
              </a:rPr>
              <a:t>향후 과제</a:t>
            </a:r>
          </a:p>
        </p:txBody>
      </p:sp>
      <p:sp>
        <p:nvSpPr>
          <p:cNvPr id="20" name="Oval 19"/>
          <p:cNvSpPr/>
          <p:nvPr/>
        </p:nvSpPr>
        <p:spPr>
          <a:xfrm>
            <a:off x="6419088" y="23865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DDR 복구/대체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온보드 DDR 재배선 또는 외부 메모리, 표준 부팅 복원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3300984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2004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ISA 확장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M(곱셈/나눗셈)·C(압축) 확장, 인터럽트 컨트롤러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2153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148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NPU 타일링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16×16 초과 행렬 타일 분할, AXI-DMA 스트리밍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5129783"/>
            <a:ext cx="146304" cy="146304"/>
          </a:xfrm>
          <a:prstGeom prst="ellipse">
            <a:avLst/>
          </a:prstGeom>
          <a:solidFill>
            <a:srgbClr val="F09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0292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1303F"/>
                </a:solidFill>
                <a:latin typeface="맑은 고딕"/>
                <a:ea typeface="맑은 고딕"/>
              </a:rPr>
              <a:t>코어 재구조화  </a:t>
            </a:r>
            <a:r>
              <a:rPr sz="1080" b="0" i="0">
                <a:solidFill>
                  <a:srgbClr val="8294A8"/>
                </a:solidFill>
                <a:latin typeface="맑은 고딕"/>
                <a:ea typeface="맑은 고딕"/>
              </a:rPr>
              <a:t>hazard 경로 분할로 110 MHz 벽 돌파 시도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6437376"/>
            <a:ext cx="15544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23  / 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294A8"/>
                </a:solidFill>
                <a:latin typeface="맑은 고딕"/>
                <a:ea typeface="맑은 고딕"/>
              </a:rPr>
              <a:t>RV32-FullStack</a:t>
            </a:r>
            <a:r>
              <a:rPr sz="1000" b="0" i="0">
                <a:solidFill>
                  <a:srgbClr val="8294A8"/>
                </a:solidFill>
                <a:latin typeface="맑은 고딕"/>
                <a:ea typeface="맑은 고딕"/>
              </a:rPr>
              <a:t>  ·  RV32I + INT8 NPU SoC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15568"/>
            <a:ext cx="5120640" cy="4352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6035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RV32I 코어 + INT8 NPU를 RTL부터 직접 만들어,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실 XC7Z020에서 </a:t>
            </a:r>
            <a:r>
              <a:rPr sz="1400" b="1" i="0">
                <a:solidFill>
                  <a:srgbClr val="7FD4E6"/>
                </a:solidFill>
                <a:latin typeface="맑은 고딕"/>
                <a:ea typeface="맑은 고딕"/>
              </a:rPr>
              <a:t>106 MHz</a:t>
            </a:r>
            <a:r>
              <a:rPr sz="1400" b="0" i="0">
                <a:solidFill>
                  <a:srgbClr val="CFE0F2"/>
                </a:solidFill>
                <a:latin typeface="맑은 고딕"/>
                <a:ea typeface="맑은 고딕"/>
              </a:rPr>
              <a:t>로 구동.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37→106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Fmax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256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DSP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4297680"/>
            <a:ext cx="1691640" cy="868680"/>
          </a:xfrm>
          <a:prstGeom prst="roundRect">
            <a:avLst>
              <a:gd name="adj" fmla="val 14000"/>
            </a:avLst>
          </a:prstGeom>
          <a:solidFill>
            <a:srgbClr val="1E4C86"/>
          </a:solidFill>
          <a:ln>
            <a:noFill/>
          </a:ln>
          <a:effectLst/>
          <a:effectLst>
            <a:outerShdw blurRad="55000" dist="20000" dir="5400000" rotWithShape="0">
              <a:srgbClr val="1B3A5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416552"/>
            <a:ext cx="1691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golden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2803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CFE0F2"/>
                </a:solidFill>
                <a:latin typeface="맑은 고딕"/>
                <a:ea typeface="맑은 고딕"/>
              </a:rPr>
              <a:t>real silicon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52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김성민  ·  RV32-FullStack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