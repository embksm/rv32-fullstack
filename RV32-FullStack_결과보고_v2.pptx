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표지. '상용 IP 없이 RISC-V RV32I 코어와 INT8 NPU를 RTL부터 직접 설계하고, 실제 Zynq 보드에서 106MHz로 구동시킨 프로젝트입니다.' 세 지표(37→106MHz, 256 MAC, 18,688/0)를 가리키며 예고.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목차. 설계→검증→성능→결과 네 파트. 특히 03 성능 파트가 핵심이라고 비중 예고. 30초.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동기. 상용 코어/NPU IP 대신 파이프라인·해저드·systolic·timing closure를 직접 다루는 학습 가치. 프로세서이므로 정확성은 기본, 속도가 가치 — '동작'에서 멈추지 않았다. 목표 3개 카드.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 요약. 본론 전 전체 그림. 37→106MHz=2.7배, 256 MAC=8×8 대비 4배, DSP 220개 100%(그래서 56개 LUT-MAC 하이브리드), 18,688 검증 0에러, 실보드 골든 일치, WNS +0.085.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시스템 아키텍처. 3계층(호스트→PS→PL). PS-host 제어 모델: Cortex-A9/JTAG가 RV32 imem 적재·실행·readback. ctrl_axi가 DDR 불량 우회. 화살표(UART/AXI-Lite/JTAG) 짚기.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하드웨어 플랫폼. XC7Z020 자원. DSP 220개가 NPU 설계를 규정하는 제약. PS/PL 역할 분담. Pmod 40핀 주변장치도 직접 구현.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 블록도. rv32_platform 내부 + 클럭. FCLK0 100→MMCM 106 단일 PL 클럭. mmio_bridge가 단일사이클에 MMIO(0x1xxx)/NPU(0x3xxx) 디코드.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RV32 코어. 교과서적 5단 파이프라인 직접 구현. RV32I 전 명령어 + FENCE.I. Forwarding으로 해저드 제거. 복선: load-use hazard stall 경로가 나중에 고클럭 임계경로가 된다.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메모리 맵. 단일 주소공간. ctrl_axi 제어 레지스터 + NPU 윈도우(A/B 타일 쓰고 CTRL=0x3, C 읽기). RV32는 lw/sw만으로 NPU 구동 — DMA/드라이버 불필요.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NPU 아키텍처. 16×16 output-stationary systolic. 각 PE가 C[i][j] 누산기 고정, A 좌→우·B 상→하 전파. 256 PE = 200 DSP + 56 LUT-MAC(220 한도). INT8→INT32 누산 후 requantize.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NPU 데이터플로우. output-stationary/skew/requantize 3개념. t_last=K+2N−2. 스크래치패드 출력 1단 레지스터링 → 전 입력 1사이클 균일 이동 → 비트 동일, 임계경로만 분할(성능 ③ 수정).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제어 흐름 시퀀스. GEMM 전 과정. 드라이버 적재 → sw로 A·B·K 기록 → CTRL=start → NPU K+2N−2 사이클 연산 → STATUS 폴링 → C readback. 시간순으로.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모듈 구조. rv32_top→ps7·clk_wiz·axi_smc·platform. platform 안 ctrl_axi·core(11유닛)·캐시·mmio_bridge. NPU 3계층. 검증 인프라+호스트 SW. 전부 직접 작성.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섹션 전환 — 검증. '동작한다를 어떻게 증명했는가.' 시뮬 골든 + 실 보드 두 축. 15초.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검증 방법론. 4중. ①Python ISS ground truth ②100+ 회귀 ③NPU TB 18,688 checks ④실보드. 핵심: 모든 최적화는 지연만 바꾸고 값 불변 → 매 단계 18,688 재실행 0에러.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실보드 브링업. DDR 물리 불량 → 표준 부팅 막힘. JTAG→ctrl_axi로 imem 직접 적재·실행, DDR/OCM 없이 전 기능 검증. 우측 콘솔: 타이밍(WNS +0.085, 0 failing) + 18,688/0. '시뮬에서 안 보이던 문제를 실 HW가 가르쳐줬다.'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섹션 전환 — 성능. 핵심. '측정으로 진짜 병목을 찾고, 값을 바꾸지 않고 클럭을 올린다.' 20초.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진단. MAC 어레이는 병목 아님(PE→PE ~0.5ns 여유). 진짜 임계경로는 256:1 readback mux(34단, 26.7ns)=Fmax 37MHz 원인. before/after 그림. 교훈: 타이밍 리포트로 진단, 인터페이스가 클럭을 잡음.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곳 파이프라이닝. v1→v4. ①readback col→row 분할 26.7→13.3ns(37→75MHz, 빌드 1h17m→8m). ②requant 곱 DSP화+분할(94MHz). ③t-counter feed 레지스터링(817→0 EP, 100MHz). MAC 무변경, 읽기 5사이클(브릿지 stall 투명), 매 단계 18,688 재검증. 2.5분.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100MHz 이후. STEP1: WNS +0.085로 100MHz, FCLK0÷10 정확. STEP2: 리타이밍→110.8MHz. STEP3: PL MMCM 100→106. 한계 ≈110.8MHz = RV32 load-use hazard(코어 복선). blind 플로어플랜 중립. 106이 안전 동작점. 2.5분.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Fmax 여정. 50(실패)→30→75→94→100→106. 매 단계 실보드 검증, MAC 무변경, 2×클럭×4×MAC≈8× throughput. '정확성 무손실로 거의 3배.'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실측 화면. 증거. 좌측 JTAG ctrl_axi 106MHz GEMM 콘솔 BOARD PASS. 우측 Vivado 구현. 하단 띠: C=[[39,53],[17,23]]=골든, real XC7Z020. '시뮬 아닌 실리콘에서.'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교훈·향후. 교훈4: 측정 후 최적화, 인터페이스 임계경로, 실HW≠시뮬, 불변 변환 무손실 가속. 향후: DDR 복구, ISA 확장(M·C), NPU 타일링·DMA, 코어 재구조화로 110 벽 돌파.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결론. 'RV32I 코어와 INT8 NPU를 RTL부터 직접 만들어 실 XC7Z020에서 106MHz로 정확히 구동.' 지표 재확인, 감사 후 Q&amp;A. 예상질문: 왜 106(슬로우코너 마진), DSP 100% 확장(타일링), DDR 불량(우회 검증 완결).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0.png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Relationship Id="rId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73836"/>
            <a:ext cx="5669280" cy="4818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18872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FD4E6"/>
                </a:solidFill>
                <a:latin typeface="Calibri"/>
                <a:ea typeface="Calibri"/>
              </a:rPr>
              <a:t>FPGA SoC  ·  프로젝트 결과 보고회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91056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  <a:ea typeface="Calibri"/>
              </a:rPr>
              <a:t>RV32-FullStack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24912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FE0F2"/>
                </a:solidFill>
                <a:latin typeface="Calibri"/>
                <a:ea typeface="Calibri"/>
              </a:rPr>
              <a:t>RISC-V RV32I 소프트코어 + INT8 systolic NPU를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FE0F2"/>
                </a:solidFill>
                <a:latin typeface="Calibri"/>
                <a:ea typeface="Calibri"/>
              </a:rPr>
              <a:t>FPGA에 직접 구현한 SoC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862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  <a:ea typeface="Calibri"/>
              </a:rPr>
              <a:t>37→106 MHz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988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FE0F2"/>
                </a:solidFill>
                <a:latin typeface="Calibri"/>
                <a:ea typeface="Calibri"/>
              </a:rPr>
              <a:t>PL 클럭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8862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  <a:ea typeface="Calibri"/>
              </a:rPr>
              <a:t>256 MAC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4988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FE0F2"/>
                </a:solidFill>
                <a:latin typeface="Calibri"/>
                <a:ea typeface="Calibri"/>
              </a:rPr>
              <a:t>16×16 INT8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8862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2336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  <a:ea typeface="Calibri"/>
              </a:rPr>
              <a:t>18,688/0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4988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FE0F2"/>
                </a:solidFill>
                <a:latin typeface="Calibri"/>
                <a:ea typeface="Calibri"/>
              </a:rPr>
              <a:t>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발표자 김성민</a:t>
            </a:r>
            <a:r>
              <a:rPr sz="1200" b="0" i="0">
                <a:solidFill>
                  <a:srgbClr val="CFE0F2"/>
                </a:solidFill>
                <a:latin typeface="Calibri"/>
                <a:ea typeface="Calibri"/>
              </a:rPr>
              <a:t>      Zynq XC7Z020 · Vivado 2025.2 ·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  <a:ea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C2E6"/>
                </a:solidFill>
                <a:latin typeface="Calibri"/>
                <a:ea typeface="Calibri"/>
              </a:rPr>
              <a:t>설계  →  검증  →  성능 최적화  →  결과 · 교훈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2103120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" y="2103120"/>
            <a:ext cx="841248" cy="84124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313432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0" y="2212848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680D4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49424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Calibri"/>
                <a:ea typeface="Calibri"/>
              </a:rPr>
              <a:t>시스템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49424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Calibri"/>
                <a:ea typeface="Calibri"/>
              </a:rPr>
              <a:t>아키텍처 · RV32 5-stage 코어 · 16×16 NPU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127248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3856" y="3127248"/>
            <a:ext cx="841248" cy="84124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3337560"/>
            <a:ext cx="420624" cy="4206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6000" y="3236976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6FAA3A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73552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Calibri"/>
                <a:ea typeface="Calibri"/>
              </a:rPr>
              <a:t>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273552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Calibri"/>
                <a:ea typeface="Calibri"/>
              </a:rPr>
              <a:t>ISS 골든 시뮬레이션 + 실보드 GEMM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4151376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3856" y="4151376"/>
            <a:ext cx="841248" cy="84124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art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168" y="4361688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6000" y="4261104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9B5C9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9768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Calibri"/>
                <a:ea typeface="Calibri"/>
              </a:rPr>
              <a:t>성능 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97680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Calibri"/>
                <a:ea typeface="Calibri"/>
              </a:rPr>
              <a:t>임계경로 진단 → 파이프라이닝 → 37→106 MHz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5175504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3856" y="5175504"/>
            <a:ext cx="841248" cy="84124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4168" y="5385816"/>
            <a:ext cx="420624" cy="4206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86000" y="528523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0992A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21808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Calibri"/>
                <a:ea typeface="Calibri"/>
              </a:rPr>
              <a:t>결과 · 교훈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321808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Calibri"/>
                <a:ea typeface="Calibri"/>
              </a:rPr>
              <a:t>실측 구동 화면 · 설계 교훈 · 향후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개요 · 동기  —  상용 IP 없이, RTL부터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파이프라인·해저드·systolic·timing closure를 직접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4566A"/>
                </a:solidFill>
                <a:latin typeface="Calibri"/>
                <a:ea typeface="Calibri"/>
              </a:rPr>
              <a:t>상용 RISC-V 코어·NPU IP 대신 </a:t>
            </a:r>
            <a:r>
              <a:rPr sz="1400" b="1" i="0">
                <a:solidFill>
                  <a:srgbClr val="21303F"/>
                </a:solidFill>
                <a:latin typeface="Calibri"/>
                <a:ea typeface="Calibri"/>
              </a:rPr>
              <a:t>명령어 파이프라인·해저드·systolic 데이터플로우·timing closure</a:t>
            </a:r>
            <a:r>
              <a:rPr sz="1400" b="0" i="0">
                <a:solidFill>
                  <a:srgbClr val="44566A"/>
                </a:solidFill>
                <a:latin typeface="Calibri"/>
                <a:ea typeface="Calibri"/>
              </a:rPr>
              <a:t>를 직접 설계·검증.  프로세서이기에 정확성은 기본, </a:t>
            </a:r>
            <a:r>
              <a:rPr sz="1400" b="1" i="0">
                <a:solidFill>
                  <a:srgbClr val="F0992A"/>
                </a:solidFill>
                <a:latin typeface="Calibri"/>
                <a:ea typeface="Calibri"/>
              </a:rPr>
              <a:t>속도(Fmax)가 곧 가치</a:t>
            </a:r>
            <a:r>
              <a:rPr sz="1400" b="0" i="0">
                <a:solidFill>
                  <a:srgbClr val="44566A"/>
                </a:solidFill>
                <a:latin typeface="Calibri"/>
                <a:ea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88920"/>
            <a:ext cx="3511296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971800"/>
            <a:ext cx="548640" cy="548640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3097987"/>
            <a:ext cx="296265" cy="2962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8176" y="2971800"/>
            <a:ext cx="2551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Calibri"/>
                <a:ea typeface="Calibri"/>
              </a:rPr>
              <a:t>동작하는 코어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02152"/>
            <a:ext cx="305409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4566A"/>
                </a:solidFill>
                <a:latin typeface="Calibri"/>
                <a:ea typeface="Calibri"/>
              </a:rPr>
              <a:t>RV32I 전 명령어 + FENCE.I, 5-stage 파이프라인, 캐시·트랩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788920"/>
            <a:ext cx="3511296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59" y="2971800"/>
            <a:ext cx="548640" cy="548640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747" y="3097987"/>
            <a:ext cx="296265" cy="2962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2971800"/>
            <a:ext cx="2551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Calibri"/>
                <a:ea typeface="Calibri"/>
              </a:rPr>
              <a:t>INT8 GEMM 가속기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502152"/>
            <a:ext cx="305409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4566A"/>
                </a:solidFill>
                <a:latin typeface="Calibri"/>
                <a:ea typeface="Calibri"/>
              </a:rPr>
              <a:t>16×16 output-stationary systolic array, 256 MAC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5" y="2788920"/>
            <a:ext cx="3511296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93023" y="2971800"/>
            <a:ext cx="548640" cy="548640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211" y="3097987"/>
            <a:ext cx="296265" cy="29626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33103" y="2971800"/>
            <a:ext cx="2551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Calibri"/>
                <a:ea typeface="Calibri"/>
              </a:rPr>
              <a:t>실보드 + 속도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3502152"/>
            <a:ext cx="305409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4566A"/>
                </a:solidFill>
                <a:latin typeface="Calibri"/>
                <a:ea typeface="Calibri"/>
              </a:rPr>
              <a:t>Zynq 실리콘 구동, Fmax를 한계까지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029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294A8"/>
                </a:solidFill>
                <a:latin typeface="Calibri"/>
                <a:ea typeface="Calibri"/>
              </a:rPr>
              <a:t>범위: 호스트 어셈블러/GUI(Python) → PS(Cortex-A9) → PL(RV32 + NPU + 주변장치) 전 스택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03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결과 요약  · 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RV32I 코어 + INT8 NPU SoC, 실 XC7Z020 검증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6" y="2048255"/>
            <a:ext cx="877824" cy="87782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315" y="2250155"/>
            <a:ext cx="474024" cy="474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210312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Calibri"/>
                <a:ea typeface="Calibri"/>
              </a:rPr>
              <a:t>37→106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Calibri"/>
                <a:ea typeface="Calibri"/>
              </a:rPr>
              <a:t>MHz · PL 클럭 (2.7×)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64608" y="2048255"/>
            <a:ext cx="877824" cy="877824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507" y="2250155"/>
            <a:ext cx="474024" cy="4740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25312" y="210312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Calibri"/>
                <a:ea typeface="Calibri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Calibri"/>
                <a:ea typeface="Calibri"/>
              </a:rPr>
              <a:t>INT8 MAC (16×16)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3" y="182880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799" y="2048255"/>
            <a:ext cx="877824" cy="87782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8699" y="2250155"/>
            <a:ext cx="474024" cy="4740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47503" y="210312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Calibri"/>
                <a:ea typeface="Calibri"/>
              </a:rPr>
              <a:t>220/220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3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Calibri"/>
                <a:ea typeface="Calibri"/>
              </a:rPr>
              <a:t>DSP48 · 100% 사용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2416" y="4151375"/>
            <a:ext cx="877824" cy="87782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315" y="4353275"/>
            <a:ext cx="474024" cy="4740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103120" y="420624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Calibri"/>
                <a:ea typeface="Calibri"/>
              </a:rPr>
              <a:t>18,688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9194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Calibri"/>
                <a:ea typeface="Calibri"/>
              </a:rPr>
              <a:t>검증 checks · 0 error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2272" y="393192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64608" y="4151375"/>
            <a:ext cx="877824" cy="877824"/>
          </a:xfrm>
          <a:prstGeom prst="ellipse">
            <a:avLst/>
          </a:prstGeom>
          <a:solidFill>
            <a:srgbClr val="E8523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6507" y="4353275"/>
            <a:ext cx="474024" cy="4740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25312" y="420624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Calibri"/>
                <a:ea typeface="Calibri"/>
              </a:rPr>
              <a:t>golden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49194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Calibri"/>
                <a:ea typeface="Calibri"/>
              </a:rPr>
              <a:t>C=[[39,53],[17,23]] 일치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84463" y="393192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799" y="4151375"/>
            <a:ext cx="877824" cy="877824"/>
          </a:xfrm>
          <a:prstGeom prst="ellipse">
            <a:avLst/>
          </a:prstGeom>
          <a:solidFill>
            <a:srgbClr val="8E5BA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8699" y="4353275"/>
            <a:ext cx="474024" cy="4740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47503" y="420624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Calibri"/>
                <a:ea typeface="Calibri"/>
              </a:rPr>
              <a:t>+0.085 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3" y="49194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Calibri"/>
                <a:ea typeface="Calibri"/>
              </a:rPr>
              <a:t>WNS · 0 failing 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04  /  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PS-host가 ctrl_axi로 PL의 RV32 + NPU를 제어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63039"/>
            <a:ext cx="7010117" cy="46725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6863813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627632"/>
            <a:ext cx="2971800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06256" y="1801368"/>
            <a:ext cx="566928" cy="56692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649" y="1931761"/>
            <a:ext cx="306141" cy="3061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0" y="181051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1303F"/>
                </a:solidFill>
                <a:latin typeface="Calibri"/>
                <a:ea typeface="Calibri"/>
              </a:rPr>
              <a:t>PS-host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340864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4566A"/>
                </a:solidFill>
                <a:latin typeface="Calibri"/>
                <a:ea typeface="Calibri"/>
              </a:rPr>
              <a:t>Cortex-A9 / JTAG가 RV32 imem 적재·실행·readback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108960"/>
            <a:ext cx="2971800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06256" y="3282696"/>
            <a:ext cx="566928" cy="56692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649" y="3413089"/>
            <a:ext cx="306141" cy="3061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0" y="32918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1303F"/>
                </a:solidFill>
                <a:latin typeface="Calibri"/>
                <a:ea typeface="Calibri"/>
              </a:rPr>
              <a:t>ctrl_axi 경로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82219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4566A"/>
                </a:solidFill>
                <a:latin typeface="Calibri"/>
                <a:ea typeface="Calibri"/>
              </a:rPr>
              <a:t>DDR 불량을 우회한 AXI-Lite 직접 제어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590288"/>
            <a:ext cx="2971800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06256" y="4764024"/>
            <a:ext cx="566928" cy="56692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649" y="4894417"/>
            <a:ext cx="306141" cy="30614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01200" y="477316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1303F"/>
                </a:solidFill>
                <a:latin typeface="Calibri"/>
                <a:ea typeface="Calibri"/>
              </a:rPr>
              <a:t>3-계층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530352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4566A"/>
                </a:solidFill>
                <a:latin typeface="Calibri"/>
                <a:ea typeface="Calibri"/>
              </a:rPr>
              <a:t>Host SW → PS → PL(RV32+NPU)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05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하드웨어 플랫폼 — XC7Z020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Zynq-7000, PS-host 제어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Calibri"/>
                <a:ea typeface="Calibri"/>
              </a:rPr>
              <a:t>53,200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47672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Calibri"/>
                <a:ea typeface="Calibri"/>
              </a:rPr>
              <a:t>LUT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47672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Calibri"/>
                <a:ea typeface="Calibri"/>
              </a:rPr>
              <a:t>106,400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47672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Calibri"/>
                <a:ea typeface="Calibri"/>
              </a:rPr>
              <a:t>Flip-Flop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82880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1" y="1947672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Calibri"/>
                <a:ea typeface="Calibri"/>
              </a:rPr>
              <a:t>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9" y="1947672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Calibri"/>
                <a:ea typeface="Calibri"/>
              </a:rPr>
              <a:t>DSP48E1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8892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907791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Calibri"/>
                <a:ea typeface="Calibri"/>
              </a:rPr>
              <a:t>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907791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Calibri"/>
                <a:ea typeface="Calibri"/>
              </a:rPr>
              <a:t>BRAM 36K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78892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907791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07791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Calibri"/>
                <a:ea typeface="Calibri"/>
              </a:rPr>
              <a:t>clock region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278892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1" y="2907791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Calibri"/>
                <a:ea typeface="Calibri"/>
              </a:rPr>
              <a:t>13,300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2907791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Calibri"/>
                <a:ea typeface="Calibri"/>
              </a:rPr>
              <a:t>SLICE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77639"/>
            <a:ext cx="5349240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7" y="4160520"/>
            <a:ext cx="548640" cy="548640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4286707"/>
            <a:ext cx="296265" cy="29626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81328" y="41605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Calibri"/>
                <a:ea typeface="Calibri"/>
              </a:rPr>
              <a:t>Processing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690872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Calibri"/>
                <a:ea typeface="Calibri"/>
              </a:rPr>
              <a:t>ARM Cortex-A9 + JTAG(XSDB). bare-metal 모니터 또는 ctrl_axi(0x4000_0000)로 PL을 직접 구동.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977639"/>
            <a:ext cx="5349240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10528" y="4160520"/>
            <a:ext cx="548640" cy="548640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715" y="4286707"/>
            <a:ext cx="296265" cy="29626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50608" y="41605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Calibri"/>
                <a:ea typeface="Calibri"/>
              </a:rPr>
              <a:t>Programmable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4690872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Calibri"/>
                <a:ea typeface="Calibri"/>
              </a:rPr>
              <a:t>RV32 코어 + 16×16 NPU + 주변장치 (Pmod JA~JE 40핀: SPI×2·I2C×2·UART·PWM·GPIO).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06  /  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SoC 블록도 — rv32_platform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단일 PL 클럭 · ctrl_axi 슬레이브 · mmio_bridge 디코드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55443" y="1435607"/>
            <a:ext cx="7050633" cy="45811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595" y="1508760"/>
            <a:ext cx="6904329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Calibri"/>
                <a:ea typeface="Calibri"/>
              </a:rPr>
              <a:t>FCLK0 100 MHz → clk_wiz(MMCM) → 106 MHz 단일 PL 클럭 · 0x1xxx MMIO / 0x3xxx NPU 단일사이클 디코드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07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RV32I 코어 — 5단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IF · ID · EX · MEM · WB + forwarding / hazard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81328"/>
            <a:ext cx="7896798" cy="41696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750494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0" y="1627632"/>
            <a:ext cx="3063240" cy="122529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33104" y="1783080"/>
            <a:ext cx="530352" cy="530352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5084" y="1905060"/>
            <a:ext cx="286390" cy="286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91472" y="179222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Calibri"/>
                <a:ea typeface="Calibri"/>
              </a:rPr>
              <a:t>RV32I + FENCE.I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2304288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Calibri"/>
                <a:ea typeface="Calibri"/>
              </a:rPr>
              <a:t>전 정수 명령어 + 자기수정코드/I캐시 무효화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999232"/>
            <a:ext cx="3063240" cy="122529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33104" y="3154680"/>
            <a:ext cx="530352" cy="530352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5084" y="3276660"/>
            <a:ext cx="286390" cy="286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91472" y="316382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Calibri"/>
                <a:ea typeface="Calibri"/>
              </a:rPr>
              <a:t>Forwarding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3675888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Calibri"/>
                <a:ea typeface="Calibri"/>
              </a:rPr>
              <a:t>EX/MEM·MEM/WB 우회로 데이터 해저드 제거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4370832"/>
            <a:ext cx="3063240" cy="122529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33104" y="4526280"/>
            <a:ext cx="530352" cy="530352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5084" y="4648260"/>
            <a:ext cx="286390" cy="2863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91472" y="453542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Calibri"/>
                <a:ea typeface="Calibri"/>
              </a:rPr>
              <a:t>Load-use hazard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5047488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Calibri"/>
                <a:ea typeface="Calibri"/>
              </a:rPr>
              <a:t>1-cycle stall — 고클럭에서 임계경로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08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메모리 맵 · MMIO 레지스터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단일 주소공간 — lw/sw 만으로 NPU 구동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5943599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1874519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Offset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ctrl_axi reg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field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Consolas"/>
                        </a:rPr>
                        <a:t>0x00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CTRL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b0 cpu_reset · b1 run_en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Consolas"/>
                        </a:rPr>
                        <a:t>0x04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STATUS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b0 halted · b2 run_en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Consolas"/>
                        </a:rPr>
                        <a:t>0x08/0x0C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IMEM_ADDR/WDATA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명령어 메모리 적재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Consolas"/>
                        </a:rPr>
                        <a:t>0x18/0x1C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REG_ADDR/RDATA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레지스터 readback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Consolas"/>
                        </a:rPr>
                        <a:t>0x20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PC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program counter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Consolas"/>
                        </a:rPr>
                        <a:t>0x2C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COMMIT_CNT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retired 명령 수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84848" y="1691640"/>
          <a:ext cx="484632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8840"/>
                <a:gridCol w="2697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NPU 0x3000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역할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Consolas"/>
                        </a:rPr>
                        <a:t>0x0000/04/08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CTRL / STATUS / K_DIM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Consolas"/>
                        </a:rPr>
                        <a:t>0x1000+...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A 타일 (16×16 INT8)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Consolas"/>
                        </a:rPr>
                        <a:t>0x2000+...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B 타일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Consolas"/>
                        </a:rPr>
                        <a:t>0x3000+...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C 결과 (INT32/INT8)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Consolas"/>
                        </a:rPr>
                        <a:t>CTRL=0x3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start | clr_acc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294A8"/>
                </a:solidFill>
                <a:latin typeface="Calibri"/>
                <a:ea typeface="Calibri"/>
              </a:rPr>
              <a:t>RV32 프로그램은 lw/sw 만으로 NPU를 구동 — 별도 DMA·드라이버 스택 불필요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09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NPU — 16×16 systolic GEMM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output-stationary · 256 MAC · INT8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63039"/>
            <a:ext cx="6704711" cy="46725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n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6558407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41080" y="1627632"/>
            <a:ext cx="3017520" cy="131673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0" y="1810512"/>
            <a:ext cx="548640" cy="548640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867" y="1936699"/>
            <a:ext cx="296265" cy="2962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55480" y="181051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Calibri"/>
                <a:ea typeface="Calibri"/>
              </a:rPr>
              <a:t>Output-stationary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340864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Calibri"/>
                <a:ea typeface="Calibri"/>
              </a:rPr>
              <a:t>각 PE가 C[i][j] 누산기를 고정 보유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3090672"/>
            <a:ext cx="3017520" cy="131673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69680" y="3273552"/>
            <a:ext cx="548640" cy="548640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867" y="3399739"/>
            <a:ext cx="296265" cy="2962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55480" y="327355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Calibri"/>
                <a:ea typeface="Calibri"/>
              </a:rPr>
              <a:t>256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803904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Calibri"/>
                <a:ea typeface="Calibri"/>
              </a:rPr>
              <a:t>200× DSP48 + 56× LUT-MAC (DSP 100%)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553712"/>
            <a:ext cx="3017520" cy="131673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0" y="4736592"/>
            <a:ext cx="548640" cy="548640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5867" y="4862779"/>
            <a:ext cx="296265" cy="2962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55480" y="473659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Calibri"/>
                <a:ea typeface="Calibri"/>
              </a:rPr>
              <a:t>INT8 → INT32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266944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Calibri"/>
                <a:ea typeface="Calibri"/>
              </a:rPr>
              <a:t>곱 누산 후 requantize로 INT8 출력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10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NPU 데이터플로우 · requantize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output-stationary · skew feed · 양자화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3511296" cy="2057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1920240"/>
            <a:ext cx="548640" cy="548640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2046427"/>
            <a:ext cx="296265" cy="2962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8176" y="1920240"/>
            <a:ext cx="2551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Calibri"/>
                <a:ea typeface="Calibri"/>
              </a:rPr>
              <a:t>Output-stationary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50591"/>
            <a:ext cx="30540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Calibri"/>
                <a:ea typeface="Calibri"/>
              </a:rPr>
              <a:t>누산기는 PE에 고정. A는 좌→우, B는 상→하 전파하며 매 사이클 곱-누산.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737360"/>
            <a:ext cx="3511296" cy="2057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59" y="1920240"/>
            <a:ext cx="548640" cy="548640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747" y="2046427"/>
            <a:ext cx="296265" cy="2962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20640" y="1920240"/>
            <a:ext cx="2551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Calibri"/>
                <a:ea typeface="Calibri"/>
              </a:rPr>
              <a:t>Skew feed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450591"/>
            <a:ext cx="30540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Calibri"/>
                <a:ea typeface="Calibri"/>
              </a:rPr>
              <a:t>A[i][t−i]·B[t−j][j] 대각 정렬. 스크래치패드 출력을 레지스터링해 임계경로 단축.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1737360"/>
            <a:ext cx="3511296" cy="2057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93023" y="1920240"/>
            <a:ext cx="548640" cy="548640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211" y="2046427"/>
            <a:ext cx="296265" cy="29626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33103" y="1920240"/>
            <a:ext cx="2551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Calibri"/>
                <a:ea typeface="Calibri"/>
              </a:rPr>
              <a:t>Requantize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450591"/>
            <a:ext cx="30540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Calibri"/>
                <a:ea typeface="Calibri"/>
              </a:rPr>
              <a:t>INT32 누산 → ×m → &gt;&gt;shift → clip → INT8. 양자화 추론용 스케일링.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14800"/>
            <a:ext cx="11064240" cy="1554480"/>
          </a:xfrm>
          <a:prstGeom prst="roundRect">
            <a:avLst>
              <a:gd name="adj" fmla="val 7000"/>
            </a:avLst>
          </a:prstGeom>
          <a:solidFill>
            <a:srgbClr val="EAF3DC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4590288"/>
            <a:ext cx="603504" cy="6035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053" y="4729093"/>
            <a:ext cx="325892" cy="3258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83080" y="42793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FAA3A"/>
                </a:solidFill>
                <a:latin typeface="Calibri"/>
                <a:ea typeface="Calibri"/>
              </a:rPr>
              <a:t>타이밍 핵심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626864"/>
            <a:ext cx="96926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21303F"/>
                </a:solidFill>
                <a:latin typeface="Consolas"/>
                <a:ea typeface="Consolas"/>
              </a:rPr>
              <a:t>t_last = K + 2N − 2</a:t>
            </a:r>
            <a:r>
              <a:rPr sz="1200" b="0" i="0">
                <a:solidFill>
                  <a:srgbClr val="44566A"/>
                </a:solidFill>
                <a:latin typeface="Calibri"/>
                <a:ea typeface="Calibri"/>
              </a:rPr>
              <a:t>  — 스크래치패드 출력 a_west/b_north를 한 단 레지스터링하면 전 입력이 1사이클 균일 이동 → </a:t>
            </a:r>
            <a:r>
              <a:rPr sz="1200" b="1" i="0">
                <a:solidFill>
                  <a:srgbClr val="6FAA3A"/>
                </a:solidFill>
                <a:latin typeface="Calibri"/>
                <a:ea typeface="Calibri"/>
              </a:rPr>
              <a:t>결과는 bit-identical</a:t>
            </a:r>
            <a:r>
              <a:rPr sz="1200" b="0" i="0">
                <a:solidFill>
                  <a:srgbClr val="44566A"/>
                </a:solidFill>
                <a:latin typeface="Calibri"/>
                <a:ea typeface="Calibri"/>
              </a:rPr>
              <a:t>, 임계경로만 분할.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11  /  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제어 흐름 — GEMM 호출 시퀀스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host → RV32 →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1032" y="1435607"/>
            <a:ext cx="6979454" cy="45354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184" y="1508760"/>
            <a:ext cx="683315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Calibri"/>
                <a:ea typeface="Calibri"/>
              </a:rPr>
              <a:t>호스트가 RV32 드라이버 적재 → sw로 A·B·K 기록, CTRL=start → NPU가 K+2N−2 사이클 연산 → STATUS 폴링 후 C readback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12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프로그램 · 모듈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rv32_top → platform → core / NPU 계층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9854" y="1435607"/>
            <a:ext cx="7121811" cy="46268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od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006" y="1508760"/>
            <a:ext cx="6975507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Calibri"/>
                <a:ea typeface="Calibri"/>
              </a:rPr>
              <a:t>rv32_top(BD) → ps7 · clk_wiz · axi_smc · rv32_platform{ ctrl_axi · rv32_core · I$/D$ · mmio_bridge → npu_top16 → npu_array → npu_pe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13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143000" y="2103120"/>
            <a:ext cx="1371600" cy="1371600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446020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4640" y="2148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FD4E6"/>
                </a:solidFill>
                <a:latin typeface="Calibri"/>
                <a:ea typeface="Calibri"/>
              </a:rPr>
              <a:t>02  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8064" y="2542032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  <a:ea typeface="Calibri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3611880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CFE0F2"/>
                </a:solidFill>
                <a:latin typeface="Calibri"/>
                <a:ea typeface="Calibri"/>
              </a:rPr>
              <a:t>시뮬레이션 골든 모델과 실 보드, 두 축으로 — '동작한다'를 증명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6C8"/>
                </a:solidFill>
                <a:latin typeface="Calibri"/>
                <a:ea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검증 방법론 — 4중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ISS 골든 → 회귀 → NPU TB → 실 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61518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3" y="2039112"/>
            <a:ext cx="713232" cy="713232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947" y="2203155"/>
            <a:ext cx="385145" cy="3851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288950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1303F"/>
                </a:solidFill>
                <a:latin typeface="Calibri"/>
                <a:ea typeface="Calibri"/>
              </a:rPr>
              <a:t>1. ISS 골든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291840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4566A"/>
                </a:solidFill>
                <a:latin typeface="Calibri"/>
                <a:ea typeface="Calibri"/>
              </a:rPr>
              <a:t>Python 명령어 시뮬레이터 = 기준 모델, 모든 결과의 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9B5C9"/>
                </a:solidFill>
                <a:latin typeface="Calibri"/>
                <a:ea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828800"/>
            <a:ext cx="261518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5968" y="2039112"/>
            <a:ext cx="713232" cy="713232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011" y="2203155"/>
            <a:ext cx="385145" cy="3851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47872" y="288950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1303F"/>
                </a:solidFill>
                <a:latin typeface="Calibri"/>
                <a:ea typeface="Calibri"/>
              </a:rPr>
              <a:t>2. 회귀 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291840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4566A"/>
                </a:solidFill>
                <a:latin typeface="Calibri"/>
                <a:ea typeface="Calibri"/>
              </a:rPr>
              <a:t>무작위/경계 프로그램 100+개를 RTL vs ISS 자동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9B5C9"/>
                </a:solidFill>
                <a:latin typeface="Calibri"/>
                <a:ea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828800"/>
            <a:ext cx="261518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14032" y="2039112"/>
            <a:ext cx="713232" cy="713232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075" y="2203155"/>
            <a:ext cx="385145" cy="3851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288950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1303F"/>
                </a:solidFill>
                <a:latin typeface="Calibri"/>
                <a:ea typeface="Calibri"/>
              </a:rPr>
              <a:t>3. NPU 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291840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4566A"/>
                </a:solidFill>
                <a:latin typeface="Calibri"/>
                <a:ea typeface="Calibri"/>
              </a:rPr>
              <a:t>18,688 checks — GEMM·256 PE 공간코너·누산·랜덤·requant (xsim)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9B5C9"/>
                </a:solidFill>
                <a:latin typeface="Calibri"/>
                <a:ea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1828800"/>
            <a:ext cx="261518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12095" y="2039112"/>
            <a:ext cx="713232" cy="713232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6139" y="2203155"/>
            <a:ext cx="385145" cy="38514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3999" y="288950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1303F"/>
                </a:solidFill>
                <a:latin typeface="Calibri"/>
                <a:ea typeface="Calibri"/>
              </a:rPr>
              <a:t>4. 실 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3291840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4566A"/>
                </a:solidFill>
                <a:latin typeface="Calibri"/>
                <a:ea typeface="Calibri"/>
              </a:rPr>
              <a:t>ctrl_axi로 실제 XC7Z020에서 GEMM 실행, 골든과 대조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434840"/>
            <a:ext cx="11064240" cy="1234440"/>
          </a:xfrm>
          <a:prstGeom prst="roundRect">
            <a:avLst>
              <a:gd name="adj" fmla="val 7000"/>
            </a:avLst>
          </a:prstGeom>
          <a:solidFill>
            <a:srgbClr val="EAF3DC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764024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29" y="4894417"/>
            <a:ext cx="306141" cy="30614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783080" y="457200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6FAA3A"/>
                </a:solidFill>
                <a:latin typeface="Calibri"/>
                <a:ea typeface="Calibri"/>
              </a:rPr>
              <a:t>불변 보장   </a:t>
            </a:r>
            <a:r>
              <a:rPr sz="1200" b="0" i="0">
                <a:solidFill>
                  <a:srgbClr val="44566A"/>
                </a:solidFill>
                <a:latin typeface="Calibri"/>
                <a:ea typeface="Calibri"/>
              </a:rPr>
              <a:t>파이프라인·캐시·skew 변경은 모두 </a:t>
            </a:r>
            <a:r>
              <a:rPr sz="1200" b="1" i="0">
                <a:solidFill>
                  <a:srgbClr val="21303F"/>
                </a:solidFill>
                <a:latin typeface="Calibri"/>
                <a:ea typeface="Calibri"/>
              </a:rPr>
              <a:t>지연만 바꾸고 값은 동일</a:t>
            </a:r>
            <a:r>
              <a:rPr sz="1200" b="0" i="0">
                <a:solidFill>
                  <a:srgbClr val="44566A"/>
                </a:solidFill>
                <a:latin typeface="Calibri"/>
                <a:ea typeface="Calibri"/>
              </a:rPr>
              <a:t> — 각 RTL 단계마다 18,688 checks 재실행, 0 error 유지.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15  /  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실보드 브링업 — DDR 우회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DDR 불량을 ctrl_axi로 우회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5486400" cy="23317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E8523F"/>
                </a:solidFill>
                <a:latin typeface="Calibri"/>
                <a:ea typeface="Calibri"/>
              </a:rPr>
              <a:t>도전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 i="0">
                <a:solidFill>
                  <a:srgbClr val="44566A"/>
                </a:solidFill>
                <a:latin typeface="Calibri"/>
                <a:ea typeface="Calibri"/>
              </a:rPr>
              <a:t>보드 DDR이 물리 불량 — 표준 부팅(BOOT.bin/DDR) 경로가 막힘.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6FAA3A"/>
                </a:solidFill>
                <a:latin typeface="Calibri"/>
                <a:ea typeface="Calibri"/>
              </a:rPr>
              <a:t>해결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4566A"/>
                </a:solidFill>
                <a:latin typeface="Calibri"/>
                <a:ea typeface="Calibri"/>
              </a:rPr>
              <a:t>JTAG → ctrl_axi로 RV32 imem을 직접 적재·실행. </a:t>
            </a:r>
            <a:r>
              <a:rPr sz="1250" b="1" i="0">
                <a:solidFill>
                  <a:srgbClr val="21303F"/>
                </a:solidFill>
                <a:latin typeface="Calibri"/>
                <a:ea typeface="Calibri"/>
              </a:rPr>
              <a:t>DDR/OCM 없이도</a:t>
            </a:r>
            <a:r>
              <a:rPr sz="1250" b="0" i="0">
                <a:solidFill>
                  <a:srgbClr val="44566A"/>
                </a:solidFill>
                <a:latin typeface="Calibri"/>
                <a:ea typeface="Calibri"/>
              </a:rPr>
              <a:t> 코어·NPU 전 기능을 실리콘에서 검증.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1920240" cy="402336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6FA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15968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6FAA3A"/>
                </a:solidFill>
                <a:latin typeface="Calibri"/>
                <a:ea typeface="Calibri"/>
              </a:rPr>
              <a:t>WNS +0.085 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4297680"/>
            <a:ext cx="1691640" cy="402336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268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315968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680D4"/>
                </a:solidFill>
                <a:latin typeface="Calibri"/>
                <a:ea typeface="Calibri"/>
              </a:rPr>
              <a:t>0 failing 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297680"/>
            <a:ext cx="1508760" cy="402336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F09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315968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0992A"/>
                </a:solidFill>
                <a:latin typeface="Calibri"/>
                <a:ea typeface="Calibri"/>
              </a:rPr>
              <a:t>18,688 /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1894347"/>
            <a:ext cx="5449824" cy="36636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_timing_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67499"/>
            <a:ext cx="5303520" cy="351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16  / 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143000" y="2103120"/>
            <a:ext cx="1371600" cy="1371600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446020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4640" y="2148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FD4E6"/>
                </a:solidFill>
                <a:latin typeface="Calibri"/>
                <a:ea typeface="Calibri"/>
              </a:rPr>
              <a:t>03  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8064" y="2542032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  <a:ea typeface="Calibri"/>
              </a:rP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3611880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CFE0F2"/>
                </a:solidFill>
                <a:latin typeface="Calibri"/>
                <a:ea typeface="Calibri"/>
              </a:rPr>
              <a:t>'동작'에서 멈추지 않는다 — 측정으로 병목을 찾고, 값을 바꾸지 않고 클럭을 올린다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6C8"/>
                </a:solidFill>
                <a:latin typeface="Calibri"/>
                <a:ea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진단 — MAC 어레이는 병목이 아니었다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측정 후 최적화 · readback mux가 26.7 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81328"/>
            <a:ext cx="7632383" cy="41239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rea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486079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0" y="1627632"/>
            <a:ext cx="3063240" cy="39319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3104" y="1828800"/>
            <a:ext cx="2651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 i="0">
                <a:solidFill>
                  <a:srgbClr val="44566A"/>
                </a:solidFill>
                <a:latin typeface="Calibri"/>
                <a:ea typeface="Calibri"/>
              </a:rPr>
              <a:t>모든 PE→PE 경로는 ~0.5 ns로 여유 충분.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 i="0">
                <a:solidFill>
                  <a:srgbClr val="44566A"/>
                </a:solidFill>
                <a:latin typeface="Calibri"/>
                <a:ea typeface="Calibri"/>
              </a:rPr>
              <a:t>진짜 임계경로는 </a:t>
            </a:r>
            <a:r>
              <a:rPr sz="1200" b="1" i="0">
                <a:solidFill>
                  <a:srgbClr val="21303F"/>
                </a:solidFill>
                <a:latin typeface="Calibri"/>
                <a:ea typeface="Calibri"/>
              </a:rPr>
              <a:t>256:1 누산기 readback mux</a:t>
            </a:r>
            <a:r>
              <a:rPr sz="1200" b="0" i="0">
                <a:solidFill>
                  <a:srgbClr val="44566A"/>
                </a:solidFill>
                <a:latin typeface="Calibri"/>
                <a:ea typeface="Calibri"/>
              </a:rPr>
              <a:t> — 34단 로직, 26.7 ns.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0992A"/>
                </a:solidFill>
                <a:latin typeface="Calibri"/>
                <a:ea typeface="Calibri"/>
              </a:rPr>
              <a:t>교훈   </a:t>
            </a:r>
            <a:r>
              <a:rPr sz="1200" b="0" i="0">
                <a:solidFill>
                  <a:srgbClr val="44566A"/>
                </a:solidFill>
                <a:latin typeface="Calibri"/>
                <a:ea typeface="Calibri"/>
              </a:rPr>
              <a:t>추측이 아니라 측정. 가속기 본체가 아니라 인터페이스가 클럭을 잡고 있었다.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18  / 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세 곳의 파이프라이닝 — Fmax 진행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readback · requant · t-counter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27632"/>
          <a:ext cx="1106424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114800"/>
                <a:gridCol w="2743200"/>
                <a:gridCol w="1508760"/>
                <a:gridCol w="13258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Build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NPU 변경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impl 전략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WNS@100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Fmax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v1 (orig)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combinational 256:1 readback mux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RuntimeOptimized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−6.74 @50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37 MHz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v2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3-stage readback (col→row→finalize)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+ phys_opt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−3.29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75 MHz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v3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+ requant 5-stage pipeline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Perf_Explore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−0.60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94 MHz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v4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+ register scratchpad feed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Perf_Explore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+0.085 ✓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alibri"/>
                          <a:ea typeface="Calibri"/>
                        </a:rPr>
                        <a:t>≥100 MHz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069080"/>
            <a:ext cx="3511296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4251960"/>
            <a:ext cx="548640" cy="548640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4378147"/>
            <a:ext cx="296265" cy="2962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8176" y="4251960"/>
            <a:ext cx="2551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Calibri"/>
                <a:ea typeface="Calibri"/>
              </a:rPr>
              <a:t>① readback mux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782312"/>
            <a:ext cx="30540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566A"/>
                </a:solidFill>
                <a:latin typeface="Calibri"/>
                <a:ea typeface="Calibri"/>
              </a:rPr>
              <a:t>256:1 → col/row 분할. 26.7→13.3 ns, 라우팅 혼잡 해소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4069080"/>
            <a:ext cx="3511296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59" y="4251960"/>
            <a:ext cx="548640" cy="548640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747" y="4378147"/>
            <a:ext cx="296265" cy="2962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251960"/>
            <a:ext cx="2551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Calibri"/>
                <a:ea typeface="Calibri"/>
              </a:rPr>
              <a:t>② requant 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4782312"/>
            <a:ext cx="30540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566A"/>
                </a:solidFill>
                <a:latin typeface="Calibri"/>
                <a:ea typeface="Calibri"/>
              </a:rPr>
              <a:t>32×17 곱을 DSP로 — multiply→shift→clip 분할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5" y="4069080"/>
            <a:ext cx="3511296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93023" y="4251960"/>
            <a:ext cx="548640" cy="548640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211" y="4378147"/>
            <a:ext cx="296265" cy="29626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33103" y="4251960"/>
            <a:ext cx="2551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Calibri"/>
                <a:ea typeface="Calibri"/>
              </a:rPr>
              <a:t>③ t-counter feed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4782312"/>
            <a:ext cx="30540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566A"/>
                </a:solidFill>
                <a:latin typeface="Calibri"/>
                <a:ea typeface="Calibri"/>
              </a:rPr>
              <a:t>스크래치패드 출력 레지스터링 → 817→0 failing 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7900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294A8"/>
                </a:solidFill>
                <a:latin typeface="Calibri"/>
                <a:ea typeface="Calibri"/>
              </a:rPr>
              <a:t>MAC 어레이는 무변경 · 읽기 지연만 5사이클(브릿지 stall로 SW에 투명) · 매 단계 18,688 checks 재검증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19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100 MHz 클로즈 → 리타이밍 → MMCM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FCLK0÷10 · retiming 110.8 · MMCM 106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511296" cy="2011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1965960"/>
            <a:ext cx="548640" cy="548640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2092147"/>
            <a:ext cx="296265" cy="2962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8176" y="1965960"/>
            <a:ext cx="2551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Calibri"/>
                <a:ea typeface="Calibri"/>
              </a:rPr>
              <a:t>100 MHz 클로즈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96312"/>
            <a:ext cx="305409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Calibri"/>
                <a:ea typeface="Calibri"/>
              </a:rPr>
              <a:t>WNS +0.085 ns, 0 failing EP. FCLK0 ÷10 = 정확히 100 MHz — MMCM 불필요.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783080"/>
            <a:ext cx="3511296" cy="2011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59" y="1965960"/>
            <a:ext cx="548640" cy="548640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rt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747" y="2092147"/>
            <a:ext cx="296265" cy="2962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20640" y="1965960"/>
            <a:ext cx="2551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Calibri"/>
                <a:ea typeface="Calibri"/>
              </a:rPr>
              <a:t>리타이밍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496312"/>
            <a:ext cx="305409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Calibri"/>
                <a:ea typeface="Calibri"/>
              </a:rPr>
              <a:t>합성 retiming(Flow_PerfOptimized_high)으로 레지스터 재배치 → Fmax 110.8 MHz.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1783080"/>
            <a:ext cx="3511296" cy="2011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93023" y="1965960"/>
            <a:ext cx="548640" cy="548640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211" y="2092147"/>
            <a:ext cx="296265" cy="29626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33103" y="1965960"/>
            <a:ext cx="2551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Calibri"/>
                <a:ea typeface="Calibri"/>
              </a:rPr>
              <a:t>PL MMCM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496312"/>
            <a:ext cx="305409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Calibri"/>
                <a:ea typeface="Calibri"/>
              </a:rPr>
              <a:t>110.8은 정수분주 불일치(÷9=111 초과). clk_wiz MMCM이 100→106 합성.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14800"/>
            <a:ext cx="11064240" cy="1554480"/>
          </a:xfrm>
          <a:prstGeom prst="roundRect">
            <a:avLst>
              <a:gd name="adj" fmla="val 7000"/>
            </a:avLst>
          </a:prstGeom>
          <a:solidFill>
            <a:srgbClr val="FBEFD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4590288"/>
            <a:ext cx="603504" cy="6035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053" y="4729093"/>
            <a:ext cx="325892" cy="3258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83080" y="42793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Calibri"/>
                <a:ea typeface="Calibri"/>
              </a:rPr>
              <a:t>아키텍처 한계 ≈ 110.8 MHz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645152"/>
            <a:ext cx="96926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44566A"/>
                </a:solidFill>
                <a:latin typeface="Calibri"/>
                <a:ea typeface="Calibri"/>
              </a:rPr>
              <a:t>리타이밍 후 worst 경로 = RV32 </a:t>
            </a:r>
            <a:r>
              <a:rPr sz="1150" b="1" i="0">
                <a:solidFill>
                  <a:srgbClr val="F0992A"/>
                </a:solidFill>
                <a:latin typeface="Consolas"/>
                <a:ea typeface="Consolas"/>
              </a:rPr>
              <a:t>load-use hazard (exmem→ifid CE, ~75% 라우팅)</a:t>
            </a:r>
            <a:r>
              <a:rPr sz="1200" b="0" i="0">
                <a:solidFill>
                  <a:srgbClr val="44566A"/>
                </a:solidFill>
                <a:latin typeface="Calibri"/>
                <a:ea typeface="Calibri"/>
              </a:rPr>
              <a:t> — 5단 파이프라인 본질. blind 플로어플랜은 중립. </a:t>
            </a:r>
            <a:r>
              <a:rPr sz="1200" b="1" i="0">
                <a:solidFill>
                  <a:srgbClr val="6FAA3A"/>
                </a:solidFill>
                <a:latin typeface="Calibri"/>
                <a:ea typeface="Calibri"/>
              </a:rPr>
              <a:t>106 MHz가 안전한 실보드 동작점.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20  /  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Fmax 여정 — 37 → 106 MHz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매 단계 실보드 검증 · MAC 무변경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6345" y="1481328"/>
            <a:ext cx="7345868" cy="44439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f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97" y="1554480"/>
            <a:ext cx="7199564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Calibri"/>
                <a:ea typeface="Calibri"/>
              </a:rPr>
              <a:t>2× 클럭 × 4× MAC(64→256) ≈ 8× peak INT8 throughput vs 8×8 baseline — 정확성 무손실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21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E8523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실측 — 실리콘 구동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JTAG GEMM @106 MHz + Vivado 구현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27048"/>
            <a:ext cx="5124140" cy="31181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board_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977836" cy="2971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81928" y="1527048"/>
            <a:ext cx="5449824" cy="23370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pl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00200"/>
            <a:ext cx="5303520" cy="21907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681728"/>
            <a:ext cx="562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Calibri"/>
                <a:ea typeface="Calibri"/>
              </a:rPr>
              <a:t>JTAG ctrl_axi GEMM @106 MHz (MMCM) — BOARD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8172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Calibri"/>
                <a:ea typeface="Calibri"/>
              </a:rPr>
              <a:t>Vivado 구현 결과 — 배치·배선·타이밍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66360"/>
            <a:ext cx="11109960" cy="566928"/>
          </a:xfrm>
          <a:prstGeom prst="roundRect">
            <a:avLst>
              <a:gd name="adj" fmla="val 12000"/>
            </a:avLst>
          </a:prstGeom>
          <a:solidFill>
            <a:srgbClr val="123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93792"/>
            <a:ext cx="11109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8FE3B0"/>
                </a:solidFill>
                <a:latin typeface="Consolas"/>
                <a:ea typeface="Consolas"/>
              </a:rPr>
              <a:t>BOARD-GEMM-MMCM-106MHZ : PASS     </a:t>
            </a:r>
            <a:r>
              <a:rPr sz="1300" b="0" i="0">
                <a:solidFill>
                  <a:srgbClr val="CFE0F2"/>
                </a:solidFill>
                <a:latin typeface="Consolas"/>
                <a:ea typeface="Consolas"/>
              </a:rPr>
              <a:t>C = [[39, 53], [17, 23]]  =  golden   (real XC7Z020)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22  / 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Calibri"/>
                <a:ea typeface="Calibri"/>
              </a:rPr>
              <a:t>교훈 ·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Calibri"/>
                <a:ea typeface="Calibri"/>
              </a:rPr>
              <a:t>설계 교훈과 다음 단계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45919"/>
            <a:ext cx="457200" cy="457200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751075"/>
            <a:ext cx="246888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16916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5AA6"/>
                </a:solidFill>
                <a:latin typeface="Calibri"/>
                <a:ea typeface="Calibri"/>
              </a:rPr>
              <a:t>설계 교훈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386584"/>
            <a:ext cx="146304" cy="1463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Calibri"/>
                <a:ea typeface="Calibri"/>
              </a:rPr>
              <a:t>측정 후 최적화  </a:t>
            </a:r>
            <a:r>
              <a:rPr sz="1080" b="0" i="0">
                <a:solidFill>
                  <a:srgbClr val="8294A8"/>
                </a:solidFill>
                <a:latin typeface="Calibri"/>
                <a:ea typeface="Calibri"/>
              </a:rPr>
              <a:t>병목은 MAC이 아니라 readback — 타이밍 리포트로 진단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300984"/>
            <a:ext cx="146304" cy="1463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0040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Calibri"/>
                <a:ea typeface="Calibri"/>
              </a:rPr>
              <a:t>인터페이스가 임계경로  </a:t>
            </a:r>
            <a:r>
              <a:rPr sz="1080" b="0" i="0">
                <a:solidFill>
                  <a:srgbClr val="8294A8"/>
                </a:solidFill>
                <a:latin typeface="Calibri"/>
                <a:ea typeface="Calibri"/>
              </a:rPr>
              <a:t>연산 본체보다 데이터 입출력 경로가 클럭을 결정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215383"/>
            <a:ext cx="146304" cy="1463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Calibri"/>
                <a:ea typeface="Calibri"/>
              </a:rPr>
              <a:t>실 HW ≠ 시뮬  </a:t>
            </a:r>
            <a:r>
              <a:rPr sz="1080" b="0" i="0">
                <a:solidFill>
                  <a:srgbClr val="8294A8"/>
                </a:solidFill>
                <a:latin typeface="Calibri"/>
                <a:ea typeface="Calibri"/>
              </a:rPr>
              <a:t>DDR 불량 — 실리콘에서만 드러나는 문제, 우회 설계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129783"/>
            <a:ext cx="146304" cy="1463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2920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Calibri"/>
                <a:ea typeface="Calibri"/>
              </a:rPr>
              <a:t>불변 변환으로 가속  </a:t>
            </a:r>
            <a:r>
              <a:rPr sz="1080" b="0" i="0">
                <a:solidFill>
                  <a:srgbClr val="8294A8"/>
                </a:solidFill>
                <a:latin typeface="Calibri"/>
                <a:ea typeface="Calibri"/>
              </a:rPr>
              <a:t>파이프라인·skew 이동은 값 보존, 손실 없이 Fmax↑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1645919"/>
            <a:ext cx="457200" cy="457200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art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1751075"/>
            <a:ext cx="246888" cy="2468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0880" y="1691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992A"/>
                </a:solidFill>
                <a:latin typeface="Calibri"/>
                <a:ea typeface="Calibri"/>
              </a:rPr>
              <a:t>향후 과제</a:t>
            </a:r>
          </a:p>
        </p:txBody>
      </p:sp>
      <p:sp>
        <p:nvSpPr>
          <p:cNvPr id="20" name="Oval 19"/>
          <p:cNvSpPr/>
          <p:nvPr/>
        </p:nvSpPr>
        <p:spPr>
          <a:xfrm>
            <a:off x="6419088" y="2386584"/>
            <a:ext cx="146304" cy="1463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2860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Calibri"/>
                <a:ea typeface="Calibri"/>
              </a:rPr>
              <a:t>DDR 복구/대체  </a:t>
            </a:r>
            <a:r>
              <a:rPr sz="1080" b="0" i="0">
                <a:solidFill>
                  <a:srgbClr val="8294A8"/>
                </a:solidFill>
                <a:latin typeface="Calibri"/>
                <a:ea typeface="Calibri"/>
              </a:rPr>
              <a:t>온보드 DDR 재배선 또는 외부 메모리, 표준 부팅 복원</a:t>
            </a:r>
          </a:p>
        </p:txBody>
      </p:sp>
      <p:sp>
        <p:nvSpPr>
          <p:cNvPr id="22" name="Oval 21"/>
          <p:cNvSpPr/>
          <p:nvPr/>
        </p:nvSpPr>
        <p:spPr>
          <a:xfrm>
            <a:off x="6419088" y="3300984"/>
            <a:ext cx="146304" cy="1463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2004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Calibri"/>
                <a:ea typeface="Calibri"/>
              </a:rPr>
              <a:t>ISA 확장  </a:t>
            </a:r>
            <a:r>
              <a:rPr sz="1080" b="0" i="0">
                <a:solidFill>
                  <a:srgbClr val="8294A8"/>
                </a:solidFill>
                <a:latin typeface="Calibri"/>
                <a:ea typeface="Calibri"/>
              </a:rPr>
              <a:t>M(곱셈/나눗셈)·C(압축) 확장, 인터럽트 컨트롤러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4215383"/>
            <a:ext cx="146304" cy="1463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1148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Calibri"/>
                <a:ea typeface="Calibri"/>
              </a:rPr>
              <a:t>NPU 타일링  </a:t>
            </a:r>
            <a:r>
              <a:rPr sz="1080" b="0" i="0">
                <a:solidFill>
                  <a:srgbClr val="8294A8"/>
                </a:solidFill>
                <a:latin typeface="Calibri"/>
                <a:ea typeface="Calibri"/>
              </a:rPr>
              <a:t>16×16 초과 행렬 타일 분할, AXI-DMA 스트리밍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5129783"/>
            <a:ext cx="146304" cy="1463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50292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Calibri"/>
                <a:ea typeface="Calibri"/>
              </a:rPr>
              <a:t>코어 재구조화  </a:t>
            </a:r>
            <a:r>
              <a:rPr sz="1080" b="0" i="0">
                <a:solidFill>
                  <a:srgbClr val="8294A8"/>
                </a:solidFill>
                <a:latin typeface="Calibri"/>
                <a:ea typeface="Calibri"/>
              </a:rPr>
              <a:t>hazard 경로 분할로 110 MHz 벽 돌파 시도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23  /  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Calibri"/>
                <a:ea typeface="Calibri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Calibri"/>
                <a:ea typeface="Calibri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115568"/>
            <a:ext cx="5120640" cy="4352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0312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FE0F2"/>
                </a:solidFill>
                <a:latin typeface="Calibri"/>
                <a:ea typeface="Calibri"/>
              </a:rPr>
              <a:t>RV32I 코어 + INT8 NPU를 RTL부터 직접 만들어,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FE0F2"/>
                </a:solidFill>
                <a:latin typeface="Calibri"/>
                <a:ea typeface="Calibri"/>
              </a:rPr>
              <a:t>실 XC7Z020에서 </a:t>
            </a:r>
            <a:r>
              <a:rPr sz="1400" b="1" i="0">
                <a:solidFill>
                  <a:srgbClr val="7FD4E6"/>
                </a:solidFill>
                <a:latin typeface="Calibri"/>
                <a:ea typeface="Calibri"/>
              </a:rPr>
              <a:t>106 MHz</a:t>
            </a:r>
            <a:r>
              <a:rPr sz="1400" b="0" i="0">
                <a:solidFill>
                  <a:srgbClr val="CFE0F2"/>
                </a:solidFill>
                <a:latin typeface="Calibri"/>
                <a:ea typeface="Calibri"/>
              </a:rPr>
              <a:t>로 구동.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297680"/>
            <a:ext cx="1691640" cy="86868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416552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37→106 MHz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FE0F2"/>
                </a:solidFill>
                <a:latin typeface="Calibri"/>
                <a:ea typeface="Calibri"/>
              </a:rPr>
              <a:t>Fmax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4297680"/>
            <a:ext cx="1691640" cy="86868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4416552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256 MAC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482803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FE0F2"/>
                </a:solidFill>
                <a:latin typeface="Calibri"/>
                <a:ea typeface="Calibri"/>
              </a:rPr>
              <a:t>DSP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297680"/>
            <a:ext cx="1691640" cy="86868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416552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golden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82803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FE0F2"/>
                </a:solidFill>
                <a:latin typeface="Calibri"/>
                <a:ea typeface="Calibri"/>
              </a:rPr>
              <a:t>real silicon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521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김성민  ·  RV32-FullStack  ·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