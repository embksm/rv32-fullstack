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0F89C1C7-3DCD-1040-A9CF-14679D8B5DDD}" type="datetime1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3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4.xml" 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'상용 IP 없이 RISC-V RV32I 코어와 INT8 NPU를 RTL부터 직접 설계하고, 실제 Zynq 보드에서 106MHz로 구동시킨 프로젝트입니다.' 세 지표(37→106MHz, 256 MAC, 18,688/0)를 가리키며 예고.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목차. 설계→검증→성능→결과 네 파트. 특히 03 성능 파트가 핵심이라고 비중 예고. 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동기. 상용 코어/NPU IP 대신 파이프라인·해저드·systolic·timing closure를 직접 다루는 학습 가치. 프로세서이므로 정확성은 기본, 속도가 가치 — '동작'에서 멈추지 않았다. 목표 3개 카드.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요약. 본론 전 전체 그림. 37→106MHz=2.7배, 256 MAC=8×8 대비 4배, DSP 220개 100%(그래서 56개 LUT-MAC 하이브리드), 18,688 검증 0에러, 실보드 골든 일치, WNS +0.085.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시스템 아키텍처. 3계층(호스트→PS→PL). PS-host 제어 모델: Cortex-A9/JTAG가 RV32 imem 적재·실행·readback. ctrl_axi가 DDR 불량 우회. 화살표(UART/AXI-Lite/JTAG) 짚기.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하드웨어 플랫폼. XC7Z020 자원. DSP 220개가 NPU 설계를 규정하는 제약. PS/PL 역할 분담. Pmod 40핀 주변장치도 직접 구현.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 블록도. rv32_platform 내부 + 클럭. FCLK0 100→MMCM 106 단일 PL 클럭. mmio_bridge가 단일사이클에 MMIO(0x1xxx)/NPU(0x3xxx) 디코드.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RV32 코어. 교과서적 5단 파이프라인 직접 구현. RV32I 전 명령어 + FENCE.I. Forwarding으로 해저드 제거. 복선: load-use hazard stall 경로가 나중에 고클럭 임계경로가 된다.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메모리 맵. 단일 주소공간. ctrl_axi 제어 레지스터 + NPU 윈도우(A/B 타일 쓰고 CTRL=0x3, C 읽기). RV32는 lw/sw만으로 NPU 구동 — DMA/드라이버 불필요.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NPU 아키텍처. 16×16 output-stationary systolic. 각 PE가 C[i][j] 누산기 고정, A 좌→우·B 상→하 전파. 256 PE = 200 DSP + 56 LUT-MAC(220 한도). INT8→INT32 누산 후 requantize.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NPU 데이터플로우. output-stationary/skew/requantize 3개념. t_last=K+2N−2. 스크래치패드 출력 1단 레지스터링 → 전 입력 1사이클 균일 이동 → 비트 동일, 임계경로만 분할(성능 ③ 수정).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제어 흐름 시퀀스. GEMM 전 과정. 드라이버 적재 → sw로 A·B·K 기록 → CTRL=start → NPU K+2N−2 사이클 연산 → STATUS 폴링 → C readback. 시간순으로.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모듈 구조. rv32_top→ps7·clk_wiz·axi_smc·platform. platform 안 ctrl_axi·core(11유닛)·캐시·mmio_bridge. NPU 3계층. 검증 인프라+호스트 SW. 전부 직접 작성.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섹션 전환 — 검증. '동작한다를 어떻게 증명했는가.' 시뮬 골든 + 실 보드 두 축. 15초.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방법론. 4중. ①Python ISS ground truth ②100+ 회귀 ③NPU TB 18,688 checks ④실보드. 핵심: 모든 최적화는 지연만 바꾸고 값 불변 → 매 단계 18,688 재실행 0에러.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실보드 브링업. DDR 물리 불량 → 표준 부팅 막힘. JTAG→ctrl_axi로 imem 직접 적재·실행, DDR/OCM 없이 전 기능 검증. 우측 콘솔: 타이밍(WNS +0.085, 0 failing) + 18,688/0. '시뮬에서 안 보이던 문제를 실 HW가 가르쳐줬다.'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섹션 전환 — 성능. 핵심. '측정으로 진짜 병목을 찾고, 값을 바꾸지 않고 클럭을 올린다.' 20초.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진단. MAC 어레이는 병목 아님(PE→PE ~0.5ns 여유). 진짜 임계경로는 256:1 readback mux(34단, 26.7ns)=Fmax 37MHz 원인. before/after 그림. 교훈: 타이밍 리포트로 진단, 인터페이스가 클럭을 잡음.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곳 파이프라이닝. v1→v4. ①readback col→row 분할 26.7→13.3ns(37→75MHz, 빌드 1h17m→8m). ②requant 곱 DSP화+분할(94MHz). ③t-counter feed 레지스터링(817→0 EP, 100MHz). MAC 무변경, 읽기 5사이클(브릿지 stall 투명), 매 단계 18,688 재검증. 2.5분.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100MHz 이후. STEP1: WNS +0.085로 100MHz, FCLK0÷10 정확. STEP2: 리타이밍→110.8MHz. STEP3: PL MMCM 100→106. 한계 ≈110.8MHz = RV32 load-use hazard(코어 복선). blind 플로어플랜 중립. 106이 안전 동작점. 2.5분.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Fmax 여정. 50(실패)→30→75→94→100→106. 매 단계 실보드 검증, MAC 무변경, 2×클럭×4×MAC≈8× throughput. '정확성 무손실로 거의 3배.'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화면. 증거. 좌측 JTAG ctrl_axi 106MHz GEMM 콘솔 BOARD PASS. 우측 Vivado 구현. 하단 띠: C=[[39,53],[17,23]]=골든, real XC7Z020. '시뮬 아닌 실리콘에서.'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교훈·향후. 교훈4: 측정 후 최적화, 인터페이스 임계경로, 실HW≠시뮬, 불변 변환 무손실 가속. 향후: DDR 복구, ISA 확장(M·C), NPU 타일링·DMA, 코어 재구조화로 110 벽 돌파.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결론. 'RV32I 코어와 INT8 NPU를 RTL부터 직접 만들어 실 XC7Z020에서 106MHz로 정확히 구동.' 지표 재확인, 감사 후 Q&amp;A. 예상질문: 왜 106(슬로우코너 마진), DSP 100% 확장(타일링), DDR 불량(우회 검증 완결).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Relationship Id="rId7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.png"  /><Relationship Id="rId4" Type="http://schemas.openxmlformats.org/officeDocument/2006/relationships/image" Target="../media/image9.png"  /><Relationship Id="rId5" Type="http://schemas.openxmlformats.org/officeDocument/2006/relationships/image" Target="../media/image8.png"  /><Relationship Id="rId6" Type="http://schemas.openxmlformats.org/officeDocument/2006/relationships/image" Target="../media/image3.png"  /><Relationship Id="rId7" Type="http://schemas.openxmlformats.org/officeDocument/2006/relationships/image" Target="../media/image4.png"  /><Relationship Id="rId8" Type="http://schemas.openxmlformats.org/officeDocument/2006/relationships/image" Target="../media/image7.png"  /><Relationship Id="rId9" Type="http://schemas.openxmlformats.org/officeDocument/2006/relationships/image" Target="../media/image10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Relationship Id="rId4" Type="http://schemas.openxmlformats.org/officeDocument/2006/relationships/image" Target="../media/image9.png"  /><Relationship Id="rId5" Type="http://schemas.openxmlformats.org/officeDocument/2006/relationships/image" Target="../media/image13.png"  /><Relationship Id="rId6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.png"  /><Relationship Id="rId4" Type="http://schemas.openxmlformats.org/officeDocument/2006/relationships/image" Target="../media/image11.png"  /><Relationship Id="rId5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15.png"  /><Relationship Id="rId4" Type="http://schemas.openxmlformats.org/officeDocument/2006/relationships/image" Target="../media/image3.png"  /><Relationship Id="rId5" Type="http://schemas.openxmlformats.org/officeDocument/2006/relationships/image" Target="../media/image11.png"  /><Relationship Id="rId6" Type="http://schemas.openxmlformats.org/officeDocument/2006/relationships/image" Target="../media/image10.png"  /><Relationship Id="rId7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17.png"  /><Relationship Id="rId4" Type="http://schemas.openxmlformats.org/officeDocument/2006/relationships/image" Target="../media/image3.png"  /><Relationship Id="rId5" Type="http://schemas.openxmlformats.org/officeDocument/2006/relationships/image" Target="../media/image13.png"  /><Relationship Id="rId6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8.png"  /><Relationship Id="rId4" Type="http://schemas.openxmlformats.org/officeDocument/2006/relationships/image" Target="../media/image13.png"  /><Relationship Id="rId5" Type="http://schemas.openxmlformats.org/officeDocument/2006/relationships/image" Target="../media/image10.png"  /><Relationship Id="rId6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18.png"  /><Relationship Id="rId4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3.png"  /><Relationship Id="rId4" Type="http://schemas.openxmlformats.org/officeDocument/2006/relationships/image" Target="../media/image1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4.png"  /><Relationship Id="rId4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6.png"  /><Relationship Id="rId4" Type="http://schemas.openxmlformats.org/officeDocument/2006/relationships/image" Target="../media/image11.png"  /><Relationship Id="rId5" Type="http://schemas.openxmlformats.org/officeDocument/2006/relationships/image" Target="../media/image8.png"  /><Relationship Id="rId6" Type="http://schemas.openxmlformats.org/officeDocument/2006/relationships/image" Target="../media/image7.png"  /><Relationship Id="rId7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20.png"  /><Relationship Id="rId4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5.png"  /><Relationship Id="rId4" Type="http://schemas.openxmlformats.org/officeDocument/2006/relationships/notesSlide" Target="../notesSlides/notesSlide1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Relationship Id="rId4" Type="http://schemas.openxmlformats.org/officeDocument/2006/relationships/notesSlide" Target="../notesSlides/notesSlide18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8.png"  /><Relationship Id="rId4" Type="http://schemas.openxmlformats.org/officeDocument/2006/relationships/image" Target="../media/image3.png"  /><Relationship Id="rId5" Type="http://schemas.openxmlformats.org/officeDocument/2006/relationships/image" Target="../media/image10.png"  /><Relationship Id="rId6" Type="http://schemas.openxmlformats.org/officeDocument/2006/relationships/notesSlide" Target="../notesSlides/notesSlide19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10.png"  /><Relationship Id="rId6" Type="http://schemas.openxmlformats.org/officeDocument/2006/relationships/image" Target="../media/image21.png"  /><Relationship Id="rId7" Type="http://schemas.openxmlformats.org/officeDocument/2006/relationships/notesSlide" Target="../notesSlides/notesSlide20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23.png"  /><Relationship Id="rId4" Type="http://schemas.openxmlformats.org/officeDocument/2006/relationships/notesSlide" Target="../notesSlides/notesSlide2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notesSlide" Target="../notesSlides/notesSlide2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21.png"  /><Relationship Id="rId4" Type="http://schemas.openxmlformats.org/officeDocument/2006/relationships/image" Target="../media/image5.png"  /><Relationship Id="rId5" Type="http://schemas.openxmlformats.org/officeDocument/2006/relationships/notesSlide" Target="../notesSlides/notesSlide23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notesSlide" Target="../notesSlides/notesSlide2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973836"/>
            <a:ext cx="5669280" cy="4818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18872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D4E6"/>
                </a:solidFill>
                <a:latin typeface="맑은 고딕"/>
                <a:ea typeface="맑은 고딕"/>
              </a:rPr>
              <a:t>FPGA SoC  ·  프로젝트 결과 보고회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91056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맑은 고딕"/>
                <a:ea typeface="맑은 고딕"/>
              </a:rPr>
              <a:t>RV32-FullStack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24912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맑은 고딕"/>
                <a:ea typeface="맑은 고딕"/>
              </a:rPr>
              <a:t>RISC-V RV32I 소프트코어 + INT8 systolic NPU를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맑은 고딕"/>
                <a:ea typeface="맑은 고딕"/>
              </a:rPr>
              <a:t>FPGA에 직접 구현한 SoC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691640" cy="234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defRPr/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106 MHz</a:t>
            </a:r>
            <a:endParaRPr sz="1550" b="1" i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맑은 고딕"/>
                <a:ea typeface="맑은 고딕"/>
              </a:rPr>
              <a:t>PL 클럭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256 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맑은 고딕"/>
                <a:ea typeface="맑은 고딕"/>
              </a:rPr>
              <a:t>16×16 INT8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18,688/0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6858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0" i="0">
                <a:solidFill>
                  <a:srgbClr val="cfe0f2"/>
                </a:solidFill>
                <a:latin typeface="맑은 고딕"/>
                <a:ea typeface="맑은 고딕"/>
              </a:rPr>
              <a:t>      Zynq XC7Z020 · Vivado 2025.2 · 2026.06</a:t>
            </a:r>
            <a:endParaRPr sz="1200" b="0" i="0">
              <a:solidFill>
                <a:srgbClr val="cfe0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C2E6"/>
                </a:solidFill>
                <a:latin typeface="맑은 고딕"/>
                <a:ea typeface="맑은 고딕"/>
              </a:rPr>
              <a:t>설계  →  검증  →  성능 최적화  →  결과 · 교훈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2103120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" y="2103120"/>
            <a:ext cx="841248" cy="84124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31343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2212848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680D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942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시스템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49424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아키텍처 · RV32 5-stage 코어 · 16×16 NPU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127248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3127248"/>
            <a:ext cx="841248" cy="84124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337560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6000" y="3236976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6FAA3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7355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73552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ISS 골든 시뮬레이션 + 실보드 GEMM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151376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" y="4151376"/>
            <a:ext cx="841248" cy="84124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4361688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0" y="4261104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9B5C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성능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9768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임계경로 진단 → 파이프라이닝 → 37→106 MHz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175504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3856" y="5175504"/>
            <a:ext cx="841248" cy="84124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168" y="5385816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0" y="528523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0992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2180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결과 · 교훈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2180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실측 구동 화면 · 설계 교훈 ·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개요 · 동기  —  상용 IP 없이, RTL부터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파이프라인·해저드·systolic·timing closure를 직접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4566A"/>
                </a:solidFill>
                <a:latin typeface="맑은 고딕"/>
                <a:ea typeface="맑은 고딕"/>
              </a:rPr>
              <a:t>상용 RISC-V 코어·NPU IP 대신 </a:t>
            </a:r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명령어 파이프라인·해저드·systolic 데이터플로우·timing closure</a:t>
            </a:r>
            <a:r>
              <a:rPr sz="1400" b="0" i="0">
                <a:solidFill>
                  <a:srgbClr val="44566A"/>
                </a:solidFill>
                <a:latin typeface="맑은 고딕"/>
                <a:ea typeface="맑은 고딕"/>
              </a:rPr>
              <a:t>를 직접 설계·검증.  프로세서이기에 정확성은 기본, </a:t>
            </a:r>
            <a:r>
              <a:rPr sz="1400" b="1" i="0">
                <a:solidFill>
                  <a:srgbClr val="F0992A"/>
                </a:solidFill>
                <a:latin typeface="맑은 고딕"/>
                <a:ea typeface="맑은 고딕"/>
              </a:rPr>
              <a:t>속도(Fmax)가 곧 가치</a:t>
            </a:r>
            <a:r>
              <a:rPr sz="1400" b="0" i="0">
                <a:solidFill>
                  <a:srgbClr val="44566A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80944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3111337"/>
            <a:ext cx="306141" cy="30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53895" y="297180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동작하는 코어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94176"/>
            <a:ext cx="305409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RV32I 전 명령어 + FENCE.I, 5-stage 파이프라인, 캐시·트랩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9704" y="298094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097" y="3111337"/>
            <a:ext cx="306141" cy="3061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59" y="297180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INT8 GEMM 가속기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694176"/>
            <a:ext cx="305409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16×16 output-stationary systolic array, 256 MAC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2167" y="2980944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561" y="3111337"/>
            <a:ext cx="306141" cy="306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78824" y="297180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실보드 + 속도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694176"/>
            <a:ext cx="305409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Zynq 실리콘 구동, Fmax를 한계까지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29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범위: 호스트 어셈블러/GUI(Python) → PS(Cortex-A9) → PL(RV32 + NPU + 주변장치) 전 스택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03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결과 요약  · 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RV32I 코어 + INT8 NPU SoC, 실 XC7Z020 검증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2048255"/>
            <a:ext cx="877824" cy="87782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315" y="2250155"/>
            <a:ext cx="474024" cy="474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37→106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MHz · PL 클럭 (2.7×)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4608" y="2048255"/>
            <a:ext cx="877824" cy="877824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507" y="2250155"/>
            <a:ext cx="474024" cy="4740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25312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INT8 MAC (16×16)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799" y="2048255"/>
            <a:ext cx="877824" cy="87782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8699" y="2250155"/>
            <a:ext cx="474024" cy="474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47503" y="2228850"/>
            <a:ext cx="201168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defRPr/>
            </a:pPr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2</a:t>
            </a:r>
            <a:r>
              <a:rPr lang="en-US" altLang="ko-KR" sz="2500" b="1" i="0">
                <a:solidFill>
                  <a:srgbClr val="21303f"/>
                </a:solidFill>
                <a:latin typeface="맑은 고딕"/>
                <a:ea typeface="맑은 고딕"/>
              </a:rPr>
              <a:t>02</a:t>
            </a:r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/220</a:t>
            </a:r>
            <a:endParaRPr sz="2500" b="1" i="0">
              <a:solidFill>
                <a:srgbClr val="21303f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47503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DSP48 · 100%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6" y="4151375"/>
            <a:ext cx="877824" cy="87782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315" y="4353275"/>
            <a:ext cx="474024" cy="4740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03120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18,688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검증 checks · 0 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64608" y="4151375"/>
            <a:ext cx="877824" cy="877824"/>
          </a:xfrm>
          <a:prstGeom prst="ellipse">
            <a:avLst/>
          </a:prstGeom>
          <a:solidFill>
            <a:srgbClr val="E8523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6507" y="4353275"/>
            <a:ext cx="474024" cy="474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25312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golden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C=[[39,53],[17,23]] 일치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799" y="4151375"/>
            <a:ext cx="877824" cy="877824"/>
          </a:xfrm>
          <a:prstGeom prst="ellipse">
            <a:avLst/>
          </a:prstGeom>
          <a:solidFill>
            <a:srgbClr val="8E5BA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8699" y="4353275"/>
            <a:ext cx="474024" cy="4740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7503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+0.085 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WNS · 0 failing 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04  /  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PS-host가 ctrl_axi로 PL의 RV32 + NPU를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63039"/>
            <a:ext cx="7010117" cy="46725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863813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627632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15400" y="1773936"/>
            <a:ext cx="530352" cy="530352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380" y="1895916"/>
            <a:ext cx="286390" cy="286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64624" y="1792224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PS-host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04872"/>
            <a:ext cx="2651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Cortex-A9 / JTAG가 RV32 imem 적재·실행·readback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108960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5400" y="3255264"/>
            <a:ext cx="530352" cy="530352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380" y="3377244"/>
            <a:ext cx="286390" cy="286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64624" y="3273552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ctrl_axi 경로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3886200"/>
            <a:ext cx="2651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DDR 불량을 우회한 AXI-Lite 직접 제어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590288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15400" y="4736592"/>
            <a:ext cx="530352" cy="530352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380" y="4858572"/>
            <a:ext cx="286390" cy="286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64624" y="4754880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3-계층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5367528"/>
            <a:ext cx="2651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Host SW → PS → PL(RV32+NPU)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05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하드웨어 플랫폼 — XC7Z020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Zynq-7000, PS-host 제어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53,200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LUT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106,400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Flip-Flop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1" y="2076450"/>
            <a:ext cx="201168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defRPr/>
            </a:pPr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220</a:t>
            </a:r>
            <a:endParaRPr sz="2100" b="1" i="0">
              <a:solidFill>
                <a:srgbClr val="1c5aa6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66959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DSP48E1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BRAM 36K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clock region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13,300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SLICE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" y="4169663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85" y="4300057"/>
            <a:ext cx="306141" cy="3061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7048" y="4160520"/>
            <a:ext cx="432511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Processing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882896"/>
            <a:ext cx="4892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ARM Cortex-A9 + JTAG(XSDB). bare-metal 모니터 또는 ctrl_axi(0x4000_0000)로 PL을 직접 구동.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977639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9672" y="4169663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065" y="4300057"/>
            <a:ext cx="306141" cy="30614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96328" y="4160520"/>
            <a:ext cx="432511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Programmable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882896"/>
            <a:ext cx="4892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RV32 코어 + 16×16 NPU + 주변장치 (Pmod JA~JE 40핀: SPI×2·I2C×2·UART·PWM·GPIO).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06  / 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SoC 블록도 — rv32_platform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단일 PL 클럭 · ctrl_axi 슬레이브 · mmio_bridge 디코드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5443" y="1435607"/>
            <a:ext cx="7050633" cy="45811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595" y="1508760"/>
            <a:ext cx="6904329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FCLK0 100 MHz → clk_wiz(MMCM) → 106 MHz 단일 PL 클럭 · 0x1xxx MMIO / 0x3xxx NPU 단일사이클 디코드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07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RV32I 코어 — 5단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IF · ID · EX · MEM · WB + forwarding / hazard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81328"/>
            <a:ext cx="7896798" cy="41696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750494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6276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33104" y="1764792"/>
            <a:ext cx="493776" cy="493776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672" y="1878360"/>
            <a:ext cx="266639" cy="266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36608" y="176479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RV32I + FENCE.I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4816" y="2350008"/>
            <a:ext cx="2697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전 정수 명령어 + 자기수정코드/I캐시 무효화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9992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33104" y="3136392"/>
            <a:ext cx="493776" cy="493776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672" y="3249960"/>
            <a:ext cx="266639" cy="266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36608" y="313639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Forwarding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3721608"/>
            <a:ext cx="2697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EX/MEM·MEM/WB 우회로 데이터 해저드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3708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33104" y="4507992"/>
            <a:ext cx="493776" cy="493776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672" y="4621560"/>
            <a:ext cx="266639" cy="2666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36608" y="450799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Load-use hazard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5093208"/>
            <a:ext cx="2697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1-cycle stall — 고클럭에서 임계경로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08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메모리 맵 · MMIO 레지스터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단일 주소공간 — lw/sw 만으로 NPU 구동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5943599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874519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Offset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ctrl_axi reg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field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CTRL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b0 cpu_reset · b1 run_en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0x04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b0 halted · b2 run_en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0x08/0x0C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IMEM_ADDR/WDATA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명령어 메모리 적재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0x18/0x1C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REG_ADDR/RDATA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레지스터 readback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0x20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program counter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0x2C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COMMIT_CNT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retired 명령 수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84848" y="1691640"/>
          <a:ext cx="48463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2697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NPU 0x3000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0x0000/04/08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CTRL / STATUS / K_DIM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0x1000+...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A 타일 (16×16 INT8)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0x2000+...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B 타일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0x3000+...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 결과 (INT32/INT8)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CTRL=0x3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start | clr_acc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RV32 프로그램은 lw/sw 만으로 NPU를 구동 — 별도 DMA·드라이버 스택 불필요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09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NPU — 16×16 systolic GEMM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output-stationary · 256 MAC · INT8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63039"/>
            <a:ext cx="6704711" cy="46725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n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558407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162763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87968" y="1773936"/>
            <a:ext cx="512064" cy="51206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42" y="1891710"/>
            <a:ext cx="276514" cy="2765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8048" y="178308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Output-stationary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9572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각 PE가 C[i][j] 누산기를 고정 보유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09067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87968" y="3236976"/>
            <a:ext cx="512064" cy="512064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742" y="3354750"/>
            <a:ext cx="276514" cy="2765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8048" y="324612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256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85876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200× DSP48 + 56× LUT-MAC (DSP 100%)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55371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87968" y="4700016"/>
            <a:ext cx="512064" cy="51206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742" y="4817790"/>
            <a:ext cx="276514" cy="2765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28048" y="470916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INT8 → INT32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32180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곱 누산 후 requantize로 INT8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10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NPU 데이터플로우 · requantize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output-stationary · skew feed · 양자화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2938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2059777"/>
            <a:ext cx="306141" cy="3061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3895" y="192024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Output-stationary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42615"/>
            <a:ext cx="305409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누산기는 PE에 고정. A는 좌→우, B는 상→하 전파하며 매 사이클 곱-누산.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704" y="1929384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097" y="2059777"/>
            <a:ext cx="306141" cy="3061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59" y="192024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Skew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642615"/>
            <a:ext cx="305409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A[i][t−i]·B[t−j][j] 대각 정렬. 스크래치패드 출력을 레지스터링해 임계경로 단축.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02167" y="1929384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561" y="2059777"/>
            <a:ext cx="306141" cy="3061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78824" y="192024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Requantize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642615"/>
            <a:ext cx="305409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INT32 누산 → ×m → &gt;&gt;shift → clip → INT8. 양자화 추론용 스케일링.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11064240" cy="1554480"/>
          </a:xfrm>
          <a:prstGeom prst="roundRect">
            <a:avLst>
              <a:gd name="adj" fmla="val 7000"/>
            </a:avLst>
          </a:prstGeom>
          <a:solidFill>
            <a:srgbClr val="EAF3DC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590288"/>
            <a:ext cx="603504" cy="6035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53" y="4729093"/>
            <a:ext cx="325892" cy="325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4279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FAA3A"/>
                </a:solidFill>
                <a:latin typeface="맑은 고딕"/>
                <a:ea typeface="맑은 고딕"/>
              </a:rPr>
              <a:t>타이밍 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26864"/>
            <a:ext cx="9692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1303F"/>
                </a:solidFill>
                <a:latin typeface="Consolas"/>
                <a:ea typeface="맑은 고딕"/>
              </a:rPr>
              <a:t>t_last = K + 2N − 2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 — 스크래치패드 출력 a_west/b_north를 한 단 레지스터링하면 전 입력이 1사이클 균일 이동 → </a:t>
            </a:r>
            <a:r>
              <a:rPr sz="1200" b="1" i="0">
                <a:solidFill>
                  <a:srgbClr val="6FAA3A"/>
                </a:solidFill>
                <a:latin typeface="맑은 고딕"/>
                <a:ea typeface="맑은 고딕"/>
              </a:rPr>
              <a:t>결과는 bit-identical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, 임계경로만 분할.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11  / 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제어 흐름 — GEMM 호출 시퀀스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host → RV32 →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1032" y="1435607"/>
            <a:ext cx="6979454" cy="45354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184" y="1508760"/>
            <a:ext cx="683315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호스트가 RV32 드라이버 적재 → sw로 A·B·K 기록, CTRL=start → NPU가 K+2N−2 사이클 연산 → STATUS 폴링 후 C readback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12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프로그램 · 모듈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rv32_top → platform → core / NPU 계층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9854" y="1435607"/>
            <a:ext cx="7121811" cy="46268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odules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593006" y="1508760"/>
            <a:ext cx="6975507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rv32_top(BD) → ps7 · clk_wiz · axi_smc · rv32_platform{ ctrl_axi · rv32_core · I$/D$ · mmio_bridge → npu_top16 → npu_array → npu_pe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13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143000" y="2103120"/>
            <a:ext cx="1371600" cy="137160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44602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4640" y="2148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FD4E6"/>
                </a:solidFill>
                <a:latin typeface="맑은 고딕"/>
                <a:ea typeface="맑은 고딕"/>
              </a:rPr>
              <a:t>02  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064" y="2542032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CFE0F2"/>
                </a:solidFill>
                <a:latin typeface="맑은 고딕"/>
                <a:ea typeface="맑은 고딕"/>
              </a:rPr>
              <a:t>시뮬레이션 골든 모델과 실 보드, 두 축으로 — '동작한다'를 증명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6C8"/>
                </a:solidFill>
                <a:latin typeface="맑은 고딕"/>
                <a:ea typeface="맑은 고딕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검증 방법론 — 4중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ISS 골든 → 회귀 → NPU TB → 실 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3" y="2039112"/>
            <a:ext cx="713232" cy="713232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47" y="2203155"/>
            <a:ext cx="385145" cy="3851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1. ISS 골든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Python 명령어 시뮬레이터 = 기준 모델, 모든 결과의 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039112"/>
            <a:ext cx="713232" cy="713232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011" y="2203155"/>
            <a:ext cx="385145" cy="3851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7872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2. 회귀 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무작위/경계 프로그램 100+개를 RTL vs ISS 자동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14032" y="2039112"/>
            <a:ext cx="713232" cy="713232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075" y="2203155"/>
            <a:ext cx="385145" cy="3851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3. NPU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18,688 checks — GEMM·256 PE 공간코너·누산·랜덤·requant (xsim)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12095" y="2039112"/>
            <a:ext cx="713232" cy="713232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139" y="2203155"/>
            <a:ext cx="385145" cy="3851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3999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4. 실 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ctrl_axi로 실제 XC7Z020에서 GEMM 실행, 골든과 대조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434840"/>
            <a:ext cx="11064240" cy="1234440"/>
          </a:xfrm>
          <a:prstGeom prst="roundRect">
            <a:avLst>
              <a:gd name="adj" fmla="val 7000"/>
            </a:avLst>
          </a:prstGeom>
          <a:solidFill>
            <a:srgbClr val="EAF3DC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76402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29" y="4894417"/>
            <a:ext cx="306141" cy="30614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83080" y="457200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6FAA3A"/>
                </a:solidFill>
                <a:latin typeface="맑은 고딕"/>
                <a:ea typeface="맑은 고딕"/>
              </a:rPr>
              <a:t>불변 보장   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파이프라인·캐시·skew 변경은 모두 </a:t>
            </a:r>
            <a:r>
              <a:rPr sz="1200" b="1" i="0">
                <a:solidFill>
                  <a:srgbClr val="21303F"/>
                </a:solidFill>
                <a:latin typeface="맑은 고딕"/>
                <a:ea typeface="맑은 고딕"/>
              </a:rPr>
              <a:t>지연만 바꾸고 값은 동일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— 각 RTL 단계마다 18,688 checks 재실행, 0 error 유지.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15  /  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실보드 브링업 — DDR 우회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DDR 불량을 ctrl_axi로 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5486400" cy="23317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E8523F"/>
                </a:solidFill>
                <a:latin typeface="맑은 고딕"/>
                <a:ea typeface="맑은 고딕"/>
              </a:rPr>
              <a:t>도전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 i="0">
                <a:solidFill>
                  <a:srgbClr val="44566A"/>
                </a:solidFill>
                <a:latin typeface="맑은 고딕"/>
                <a:ea typeface="맑은 고딕"/>
              </a:rPr>
              <a:t>보드 DDR이 물리 불량 — 표준 부팅(BOOT.bin/DDR) 경로가 막힘.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FAA3A"/>
                </a:solidFill>
                <a:latin typeface="맑은 고딕"/>
                <a:ea typeface="맑은 고딕"/>
              </a:rPr>
              <a:t>해결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4566A"/>
                </a:solidFill>
                <a:latin typeface="맑은 고딕"/>
                <a:ea typeface="맑은 고딕"/>
              </a:rPr>
              <a:t>JTAG → ctrl_axi로 RV32 imem을 직접 적재·실행. </a:t>
            </a: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DDR/OCM 없이도</a:t>
            </a:r>
            <a:r>
              <a:rPr sz="1250" b="0" i="0">
                <a:solidFill>
                  <a:srgbClr val="44566A"/>
                </a:solidFill>
                <a:latin typeface="맑은 고딕"/>
                <a:ea typeface="맑은 고딕"/>
              </a:rPr>
              <a:t> 코어·NPU 전 기능을 실리콘에서 검증.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192024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6FA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1596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FAA3A"/>
                </a:solidFill>
                <a:latin typeface="맑은 고딕"/>
                <a:ea typeface="맑은 고딕"/>
              </a:rPr>
              <a:t>WNS +0.085 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4297680"/>
            <a:ext cx="169164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68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31596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680D4"/>
                </a:solidFill>
                <a:latin typeface="맑은 고딕"/>
                <a:ea typeface="맑은 고딕"/>
              </a:rPr>
              <a:t>0 failing 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297680"/>
            <a:ext cx="150876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F09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315968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0992A"/>
                </a:solidFill>
                <a:latin typeface="맑은 고딕"/>
                <a:ea typeface="맑은 고딕"/>
              </a:rPr>
              <a:t>18,688 /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894347"/>
            <a:ext cx="5449824" cy="36636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_timing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7499"/>
            <a:ext cx="5303520" cy="351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16  / 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143000" y="2103120"/>
            <a:ext cx="1371600" cy="137160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44602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4640" y="2148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FD4E6"/>
                </a:solidFill>
                <a:latin typeface="맑은 고딕"/>
                <a:ea typeface="맑은 고딕"/>
              </a:rPr>
              <a:t>03  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064" y="2542032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CFE0F2"/>
                </a:solidFill>
                <a:latin typeface="맑은 고딕"/>
                <a:ea typeface="맑은 고딕"/>
              </a:rPr>
              <a:t>'동작'에서 멈추지 않는다 — 측정으로 병목을 찾고, 값을 바꾸지 않고 클럭을 올린다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6C8"/>
                </a:solidFill>
                <a:latin typeface="맑은 고딕"/>
                <a:ea typeface="맑은 고딕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진단 — MAC 어레이는 병목이 아니었다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측정 후 최적화 · readback mux가 26.7 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81328"/>
            <a:ext cx="7632383" cy="4123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a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486079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627632"/>
            <a:ext cx="3063240" cy="39319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3104" y="1828800"/>
            <a:ext cx="2651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모든 PE→PE 경로는 ~0.5 ns로 여유 충분.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진짜 임계경로는 </a:t>
            </a:r>
            <a:r>
              <a:rPr sz="1200" b="1" i="0">
                <a:solidFill>
                  <a:srgbClr val="21303F"/>
                </a:solidFill>
                <a:latin typeface="맑은 고딕"/>
                <a:ea typeface="맑은 고딕"/>
              </a:rPr>
              <a:t>256:1 누산기 readback mux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— 34단 로직, 26.7 ns.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0992A"/>
                </a:solidFill>
                <a:latin typeface="맑은 고딕"/>
                <a:ea typeface="맑은 고딕"/>
              </a:rPr>
              <a:t>교훈   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추측이 아니라 측정. 가속기 본체가 아니라 인터페이스가 클럭을 잡고 있었다.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18  / 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세 곳의 파이프라이닝 — Fmax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readback · requant · t-counter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6424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114800"/>
                <a:gridCol w="2743200"/>
                <a:gridCol w="150876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Build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NPU 변경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impl 전략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WNS@100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Fmax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v1 (orig)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combinational 256:1 readback mux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RuntimeOptimized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−6.74 @50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37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v2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3-stage readback (col→row→finalize)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 phys_opt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−3.29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75 MHz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 requant 5-stage pipeline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−0.60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94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 register scratchpad feed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+0.085 ✓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≥100 MHz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4261104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4391497"/>
            <a:ext cx="306141" cy="30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53895" y="4251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① readback mux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74336"/>
            <a:ext cx="305409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256:1 → col/row 분할. 26.7→13.3 ns, 라우팅 혼잡 해소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9704" y="426110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097" y="4391497"/>
            <a:ext cx="306141" cy="3061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59" y="4251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② requant 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974336"/>
            <a:ext cx="305409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32×17 곱을 DSP로 — multiply→shift→clip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2167" y="4261104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561" y="4391497"/>
            <a:ext cx="306141" cy="306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78824" y="4251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③ t-counter feed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4974336"/>
            <a:ext cx="305409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스크래치패드 출력 레지스터링 → 817→0 failing 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7900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MAC 어레이는 무변경 · 읽기 지연만 5사이클(브릿지 stall로 SW에 투명) · 매 단계 18,688 checks 재검증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19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100 MHz 클로즈 → 리타이밍 → MMCM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FCLK0÷10 · retiming 110.8 · MMCM 106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75103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2105497"/>
            <a:ext cx="306141" cy="3061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3895" y="1965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100 MHz 클로즈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305409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WNS +0.085 ns, 0 failing EP. FCLK0 ÷10 = 정확히 100 MHz — MMCM 불필요.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704" y="1975103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097" y="2105497"/>
            <a:ext cx="306141" cy="3061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59" y="1965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리타이밍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688336"/>
            <a:ext cx="305409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합성 retiming(Flow_PerfOptimized_high)으로 레지스터 재배치 → Fmax 110.8 MHz.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02167" y="1975103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561" y="2105497"/>
            <a:ext cx="306141" cy="3061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78824" y="1965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PL MMCM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688336"/>
            <a:ext cx="305409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110.8은 정수분주 불일치(÷9=111 초과). clk_wiz MMCM이 100→106 합성.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11064240" cy="1554480"/>
          </a:xfrm>
          <a:prstGeom prst="roundRect">
            <a:avLst>
              <a:gd name="adj" fmla="val 7000"/>
            </a:avLst>
          </a:prstGeom>
          <a:solidFill>
            <a:srgbClr val="FBEFD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590288"/>
            <a:ext cx="603504" cy="6035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053" y="4729093"/>
            <a:ext cx="325892" cy="325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4279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아키텍처 한계 ≈ 110.8 MHz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45152"/>
            <a:ext cx="9692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리타이밍 후 worst 경로 = RV32 </a:t>
            </a:r>
            <a:r>
              <a:rPr sz="1150" b="1" i="0">
                <a:solidFill>
                  <a:srgbClr val="F0992A"/>
                </a:solidFill>
                <a:latin typeface="Consolas"/>
                <a:ea typeface="맑은 고딕"/>
              </a:rPr>
              <a:t>load-use hazard (exmem→ifid CE, ~75% 라우팅)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— 5단 파이프라인 본질. blind 플로어플랜은 중립. </a:t>
            </a:r>
            <a:r>
              <a:rPr sz="1200" b="1" i="0">
                <a:solidFill>
                  <a:srgbClr val="6FAA3A"/>
                </a:solidFill>
                <a:latin typeface="맑은 고딕"/>
                <a:ea typeface="맑은 고딕"/>
              </a:rPr>
              <a:t>106 MHz가 안전한 실보드 동작점.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20  / 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Fmax 여정 — 37 → 106 MHz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매 단계 실보드 검증 · MAC 무변경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6345" y="1481328"/>
            <a:ext cx="7345868" cy="44439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97" y="1554480"/>
            <a:ext cx="7199564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2× 클럭 × 4× MAC(64→256) ≈ 8× peak INT8 throughput vs 8×8 baseline — 정확성 무손실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21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E8523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실측 — 실리콘 구동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JTAG GEMM @106 MHz + Vivado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27048"/>
            <a:ext cx="5124140" cy="31181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oard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977836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81928" y="1527048"/>
            <a:ext cx="5449824" cy="23370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pl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00200"/>
            <a:ext cx="5303520" cy="21907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681728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JTAG ctrl_axi GEMM @106 MHz (MMCM) — BOARD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817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Vivado 구현 결과 — 배치·배선·타이밍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66360"/>
            <a:ext cx="11109960" cy="566928"/>
          </a:xfrm>
          <a:prstGeom prst="roundRect">
            <a:avLst>
              <a:gd name="adj" fmla="val 12000"/>
            </a:avLst>
          </a:prstGeom>
          <a:solidFill>
            <a:srgbClr val="12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93792"/>
            <a:ext cx="11109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FE3B0"/>
                </a:solidFill>
                <a:latin typeface="Consolas"/>
                <a:ea typeface="맑은 고딕"/>
              </a:rPr>
              <a:t>BOARD-GEMM-MMCM-106MHZ : PASS     </a:t>
            </a:r>
            <a:r>
              <a:rPr sz="1300" b="0" i="0">
                <a:solidFill>
                  <a:srgbClr val="CFE0F2"/>
                </a:solidFill>
                <a:latin typeface="Consolas"/>
                <a:ea typeface="맑은 고딕"/>
              </a:rPr>
              <a:t>C = [[39, 53], [17, 23]]  =  golden   (real XC7Z020)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22  / 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교훈 ·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설계 교훈과 다음 단계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45919"/>
            <a:ext cx="457200" cy="45720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751075"/>
            <a:ext cx="246888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1691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5AA6"/>
                </a:solidFill>
                <a:latin typeface="맑은 고딕"/>
                <a:ea typeface="맑은 고딕"/>
              </a:rPr>
              <a:t>설계 교훈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386584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측정 후 최적화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병목은 MAC이 아니라 readback — 타이밍 리포트로 진단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300984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인터페이스가 임계경로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연산 본체보다 데이터 입출력 경로가 클럭을 결정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215383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실 HW ≠ 시뮬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DDR 불량 — 실리콘에서만 드러나는 문제, 우회 설계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129783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292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불변 변환으로 가속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파이프라인·skew 이동은 값 보존, 손실 없이 Fmax↑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1645919"/>
            <a:ext cx="457200" cy="45720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1751075"/>
            <a:ext cx="246888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088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992A"/>
                </a:solidFill>
                <a:latin typeface="맑은 고딕"/>
                <a:ea typeface="맑은 고딕"/>
              </a:rPr>
              <a:t>향후 과제</a:t>
            </a:r>
          </a:p>
        </p:txBody>
      </p:sp>
      <p:sp>
        <p:nvSpPr>
          <p:cNvPr id="20" name="Oval 19"/>
          <p:cNvSpPr/>
          <p:nvPr/>
        </p:nvSpPr>
        <p:spPr>
          <a:xfrm>
            <a:off x="6419088" y="2386584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2860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DDR 복구/대체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온보드 DDR 재배선 또는 외부 메모리, 표준 부팅 복원</a:t>
            </a:r>
          </a:p>
        </p:txBody>
      </p:sp>
      <p:sp>
        <p:nvSpPr>
          <p:cNvPr id="22" name="Oval 21"/>
          <p:cNvSpPr/>
          <p:nvPr/>
        </p:nvSpPr>
        <p:spPr>
          <a:xfrm>
            <a:off x="6419088" y="3300984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2004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ISA 확장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M(곱셈/나눗셈)·C(압축) 확장, 인터럽트 컨트롤러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215383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1148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NPU 타일링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16×16 초과 행렬 타일 분할, AXI-DMA 스트리밍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5129783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0292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코어 재구조화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hazard 경로 분할로 110 MHz 벽 돌파 시도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23  / 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15568"/>
            <a:ext cx="5120640" cy="4352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0312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맑은 고딕"/>
                <a:ea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맑은 고딕"/>
                <a:ea typeface="맑은 고딕"/>
              </a:rPr>
              <a:t>RV32I 코어 + INT8 NPU를 RTL부터 직접 만들어,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맑은 고딕"/>
                <a:ea typeface="맑은 고딕"/>
              </a:rPr>
              <a:t>실 XC7Z020에서 </a:t>
            </a:r>
            <a:r>
              <a:rPr sz="1400" b="1" i="0">
                <a:solidFill>
                  <a:srgbClr val="7FD4E6"/>
                </a:solidFill>
                <a:latin typeface="맑은 고딕"/>
                <a:ea typeface="맑은 고딕"/>
              </a:rPr>
              <a:t>106 MHz</a:t>
            </a:r>
            <a:r>
              <a:rPr sz="1400" b="0" i="0">
                <a:solidFill>
                  <a:srgbClr val="CFE0F2"/>
                </a:solidFill>
                <a:latin typeface="맑은 고딕"/>
                <a:ea typeface="맑은 고딕"/>
              </a:rPr>
              <a:t>로 구동.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37→106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맑은 고딕"/>
                <a:ea typeface="맑은 고딕"/>
              </a:rPr>
              <a:t>Fmax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256 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맑은 고딕"/>
                <a:ea typeface="맑은 고딕"/>
              </a:rPr>
              <a:t>DSP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golden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맑은 고딕"/>
                <a:ea typeface="맑은 고딕"/>
              </a:rPr>
              <a:t>real silicon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김성민  ·  RV32-FullStack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1267</ep:Words>
  <ep:PresentationFormat>On-screen Show (4:3)</ep:PresentationFormat>
  <ep:Paragraphs>376</ep:Paragraphs>
  <ep:Slides>24</ep:Slides>
  <ep:Notes>24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USER</cp:lastModifiedBy>
  <dcterms:modified xsi:type="dcterms:W3CDTF">2026-06-24T01:18:20.953</dcterms:modified>
  <cp:revision>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