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73836"/>
            <a:ext cx="5669280" cy="4818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2344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FD4E6"/>
                </a:solidFill>
                <a:latin typeface="Calibri"/>
                <a:ea typeface="Calibri"/>
              </a:rPr>
              <a:t>FPGA SoC  ·  프로젝트 결과 보고회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  <a:ea typeface="Calibri"/>
              </a:rPr>
              <a:t>RV32-FullStack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E0F2"/>
                </a:solidFill>
                <a:latin typeface="Calibri"/>
                <a:ea typeface="Calibri"/>
              </a:rPr>
              <a:t>RISC-V RV32I 소프트코어 + INT8 systolic NPU를</a:t>
            </a:r>
            <a:r>
              <a:rPr sz="1500" b="0" i="0">
                <a:solidFill>
                  <a:srgbClr val="CFE0F2"/>
                </a:solidFill>
                <a:latin typeface="Calibri"/>
                <a:ea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E0F2"/>
                </a:solidFill>
                <a:latin typeface="Calibri"/>
                <a:ea typeface="Calibri"/>
              </a:rPr>
              <a:t>FPGA에 직접 구현한 SoC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  <a:ea typeface="Calibri"/>
              </a:rPr>
              <a:t>37→106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Calibri"/>
                <a:ea typeface="Calibri"/>
              </a:rPr>
              <a:t>PL 클럭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  <a:ea typeface="Calibri"/>
              </a:rPr>
              <a:t>256 MAC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Calibri"/>
                <a:ea typeface="Calibri"/>
              </a:rPr>
              <a:t>16×16 INT8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  <a:ea typeface="Calibri"/>
              </a:rPr>
              <a:t>18,688/0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Calibri"/>
                <a:ea typeface="Calibri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발표자 김성민</a:t>
            </a:r>
            <a:r>
              <a:rPr sz="1200" b="0" i="0">
                <a:solidFill>
                  <a:srgbClr val="CFE0F2"/>
                </a:solidFill>
                <a:latin typeface="Calibri"/>
                <a:ea typeface="Calibri"/>
              </a:rPr>
              <a:t>      Zynq XC7Z020 · Vivado 2025.2 ·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400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  <a:ea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C2E6"/>
                </a:solidFill>
                <a:latin typeface="Calibri"/>
                <a:ea typeface="Calibri"/>
              </a:rPr>
              <a:t>설계  →  검증  →  성능 최적화  →  결과 · 교훈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2148840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" y="2148840"/>
            <a:ext cx="841248" cy="84124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35915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0" y="2258568"/>
            <a:ext cx="1097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680D4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29514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Calibri"/>
                <a:ea typeface="Calibri"/>
              </a:rPr>
              <a:t>시스템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295144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Calibri"/>
                <a:ea typeface="Calibri"/>
              </a:rPr>
              <a:t>아키텍처 · RV32 5-stage 코어 · 16×16 NPU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172968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3172968"/>
            <a:ext cx="841248" cy="841248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3383280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6000" y="3282696"/>
            <a:ext cx="1097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7CB342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1927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Calibri"/>
                <a:ea typeface="Calibri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319272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Calibri"/>
                <a:ea typeface="Calibri"/>
              </a:rPr>
              <a:t>ISS 골든 시뮬레이션 + 실보드 GEMM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197096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856" y="4197096"/>
            <a:ext cx="841248" cy="84124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4407407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6000" y="4306824"/>
            <a:ext cx="1097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9B5C9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34340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Calibri"/>
                <a:ea typeface="Calibri"/>
              </a:rPr>
              <a:t>성능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34340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Calibri"/>
                <a:ea typeface="Calibri"/>
              </a:rPr>
              <a:t>임계경로 진단 → 파이프라이닝 → 37→106 MHz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221224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3856" y="5221224"/>
            <a:ext cx="841248" cy="841248"/>
          </a:xfrm>
          <a:prstGeom prst="ellipse">
            <a:avLst/>
          </a:prstGeom>
          <a:solidFill>
            <a:srgbClr val="F2A526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168" y="5431536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86000" y="5330952"/>
            <a:ext cx="1097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2A526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36752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Calibri"/>
                <a:ea typeface="Calibri"/>
              </a:rPr>
              <a:t>결과 · 교훈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367528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Calibri"/>
                <a:ea typeface="Calibri"/>
              </a:rPr>
              <a:t>실측 구동 화면 · 설계 교훈 ·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0936" y="603504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60" y="754928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1328" y="5486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303F"/>
                </a:solidFill>
                <a:latin typeface="Calibri"/>
                <a:ea typeface="Calibri"/>
              </a:rPr>
              <a:t>결과 요약  · 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107899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RV32I 코어 + INT8 NPU SoC, 실 XC7Z020 검증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84448" cy="1810512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2093975"/>
            <a:ext cx="877824" cy="877824"/>
          </a:xfrm>
          <a:prstGeom prst="ellipse">
            <a:avLst/>
          </a:prstGeom>
          <a:solidFill>
            <a:srgbClr val="F2A526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315" y="2295875"/>
            <a:ext cx="474024" cy="474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2148839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37→106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620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66A"/>
                </a:solidFill>
                <a:latin typeface="Calibri"/>
                <a:ea typeface="Calibri"/>
              </a:rPr>
              <a:t>MHz · PL 클럭 (2.7×)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74519"/>
            <a:ext cx="3584448" cy="1810512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4608" y="2093975"/>
            <a:ext cx="877824" cy="877824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507" y="2295875"/>
            <a:ext cx="474024" cy="4740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25312" y="2148839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8620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66A"/>
                </a:solidFill>
                <a:latin typeface="Calibri"/>
                <a:ea typeface="Calibri"/>
              </a:rPr>
              <a:t>INT8 MAC (16×16)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1874519"/>
            <a:ext cx="3584448" cy="1810512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799" y="2093975"/>
            <a:ext cx="877824" cy="87782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8699" y="2295875"/>
            <a:ext cx="474024" cy="474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47503" y="2148839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220/220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3" y="28620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66A"/>
                </a:solidFill>
                <a:latin typeface="Calibri"/>
                <a:ea typeface="Calibri"/>
              </a:rPr>
              <a:t>DSP48 · 100% 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3584448" cy="1810512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6" y="4151375"/>
            <a:ext cx="877824" cy="877824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315" y="4353275"/>
            <a:ext cx="474024" cy="4740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03120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18,688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66A"/>
                </a:solidFill>
                <a:latin typeface="Calibri"/>
                <a:ea typeface="Calibri"/>
              </a:rPr>
              <a:t>검증 checks · 0 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3931920"/>
            <a:ext cx="3584448" cy="1810512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64608" y="4151375"/>
            <a:ext cx="877824" cy="877824"/>
          </a:xfrm>
          <a:prstGeom prst="ellipse">
            <a:avLst/>
          </a:prstGeom>
          <a:solidFill>
            <a:srgbClr val="E8523F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6507" y="4353275"/>
            <a:ext cx="474024" cy="4740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25312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golden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66A"/>
                </a:solidFill>
                <a:latin typeface="Calibri"/>
                <a:ea typeface="Calibri"/>
              </a:rPr>
              <a:t>C=[[39,53],[17,23]] 일치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3" y="3931920"/>
            <a:ext cx="3584448" cy="1810512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799" y="4151375"/>
            <a:ext cx="877824" cy="877824"/>
          </a:xfrm>
          <a:prstGeom prst="ellipse">
            <a:avLst/>
          </a:prstGeom>
          <a:solidFill>
            <a:srgbClr val="8E5BA6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8699" y="4353275"/>
            <a:ext cx="474024" cy="4740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7503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+0.085 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66A"/>
                </a:solidFill>
                <a:latin typeface="Calibri"/>
                <a:ea typeface="Calibri"/>
              </a:rPr>
              <a:t>WNS · 0 failing 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03  / 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0936" y="603504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60" y="754928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1328" y="5486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303F"/>
                </a:solidFill>
                <a:latin typeface="Calibri"/>
                <a:ea typeface="Calibri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107899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PS-host가 ctrl_axi로 PL의 RV32 + NPU를 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81328"/>
            <a:ext cx="7010117" cy="46725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6863813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627632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06256" y="1801368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649" y="1931761"/>
            <a:ext cx="306141" cy="3061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0" y="181051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PS-host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340864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6566A"/>
                </a:solidFill>
                <a:latin typeface="Calibri"/>
                <a:ea typeface="Calibri"/>
              </a:rPr>
              <a:t>Cortex-A9 / JTAG가 RV32 imem 적재·실행·readback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108960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06256" y="3282696"/>
            <a:ext cx="566928" cy="566928"/>
          </a:xfrm>
          <a:prstGeom prst="ellipse">
            <a:avLst/>
          </a:prstGeom>
          <a:solidFill>
            <a:srgbClr val="F2A526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649" y="3413089"/>
            <a:ext cx="306141" cy="3061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0" y="32918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ctrl_axi 경로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82219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6566A"/>
                </a:solidFill>
                <a:latin typeface="Calibri"/>
                <a:ea typeface="Calibri"/>
              </a:rPr>
              <a:t>DDR 불량을 우회한 AXI-Lite 직접 제어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590288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06256" y="4764024"/>
            <a:ext cx="566928" cy="56692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2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649" y="4894417"/>
            <a:ext cx="306141" cy="3061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01200" y="477316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3-계층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530352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6566A"/>
                </a:solidFill>
                <a:latin typeface="Calibri"/>
                <a:ea typeface="Calibri"/>
              </a:rPr>
              <a:t>Host SW → PS → PL(RV32+NPU)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04  / 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15568"/>
            <a:ext cx="5120640" cy="4352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4884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0F2"/>
                </a:solidFill>
                <a:latin typeface="Calibri"/>
                <a:ea typeface="Calibri"/>
              </a:rPr>
              <a:t>RV32I 코어 + INT8 NPU를 RTL부터 직접 만들어,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0F2"/>
                </a:solidFill>
                <a:latin typeface="Calibri"/>
                <a:ea typeface="Calibri"/>
              </a:rPr>
              <a:t>실 XC7Z020에서 </a:t>
            </a:r>
            <a:r>
              <a:rPr sz="1400" b="1" i="0">
                <a:solidFill>
                  <a:srgbClr val="7FD4E6"/>
                </a:solidFill>
                <a:latin typeface="Calibri"/>
                <a:ea typeface="Calibri"/>
              </a:rPr>
              <a:t>106 MHz</a:t>
            </a:r>
            <a:r>
              <a:rPr sz="1400" b="0" i="0">
                <a:solidFill>
                  <a:srgbClr val="CFE0F2"/>
                </a:solidFill>
                <a:latin typeface="Calibri"/>
                <a:ea typeface="Calibri"/>
              </a:rPr>
              <a:t>로 구동.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김성민  ·  RV32-FullStack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