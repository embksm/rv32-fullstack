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표지. 한 문장으로 시작: 'RISC-V RV32I 코어와 INT8 NPU를 상용 IP 없이 RTL부터 직접 설계하고, 실제 Zynq 보드에서 106MHz로 구동시킨 프로젝트입니다.' 우측 하단 네 지표(37→106MHz, 256 MAC, 18688/0, 골든 일치)를 미리 가리키며 '오늘 이 네 숫자를 증명해 보이겠다'고 예고. 약 1분.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목차. 네 파트 구성. 설계(아키텍처·코어·NPU) → 검증(시뮬+실보드) → 성능 최적화(오늘의 하이라이트) → 결과·교훈. '특히 03 성능 파트가 이 프로젝트의 핵심'이라고 비중을 예고. 30초.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동기. 왜 직접 만드는가. 상용 코어/NPU IP를 쓰면 빠르지만, 파이프라인·해저드·systolic·timing closure를 손으로 다루는 학습 가치가 사라진다. 프로세서이므로 정확성은 기본이고 속도가 가치 — 그래서 '동작'에서 멈추지 않았다는 점을 강조. 목표 3개 카드 읽기. 1분.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결과 요약. 본론 전 전체 그림. 37→106MHz는 2.7배, 256 MAC는 8×8 대비 4배, DSP 220개를 100% 사용(그래서 56개는 LUT-MAC 하이브리드). 18,688 검증 0 에러, 실보드 결과가 골든과 정확히 일치. '이제 각각을 어떻게 달성했는지 보겠다.' 1분.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시스템 아키텍처. 3계층(호스트 SW→PS→PL). 핵심은 PS-host 제어 모델: Cortex-A9 또는 JTAG가 RV32의 명령어 메모리를 적재하고 실행·readback을 주관한다. 우측 카드: DDR 불량을 우회한 ctrl_axi 경로(뒤에서 자세히). 그림의 화살표(UART/AXI-Lite/JTAG)를 짚어가며 설명. 1.5분.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하드웨어 플랫폼. XC7Z020 자원 규모를 숫자로. DSP 220개가 NPU 설계를 규정하는 제약(뒤에서 100% 사용). PS와 PL의 역할 분담 카드. Pmod 40핀에 주변장치(SPI/I2C/UART/PWM/GPIO)도 직접 구현했음을 언급. 1분.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SoC 블록도. rv32_platform 내부. 데이터 흐름: PS M_AXI_GP0 → SmartConnect → ctrl_axi → 코어/브릿지. 클럭: FCLK0 100MHz가 clk_wiz(MMCM)를 거쳐 106MHz 단일 PL 클럭으로. mmio_bridge가 단일 사이클에 주소를 디코드해 MMIO(0x1xxx)와 NPU(0x3xxx)를 가른다. 1.5분.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RV32 코어. 교과서적 5단 파이프라인(IF/ID/EX/MEM/WB)을 직접 구현. RV32I 전 명령어 + FENCE.I(자기수정코드). Forwarding으로 데이터 해저드 제거. 중요한 복선: load-use hazard의 1-cycle stall 경로 — 이것이 나중에 고클럭에서 코어의 임계경로가 된다(성능 파트와 연결). 1.5분.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메모리 맵. 설계의 우아한 점: 단일 주소공간. 좌측은 ctrl_axi 제어 레지스터(코어 reset/run, imem 적재, PC·레지스터 readback). 우측은 NPU 윈도우 — A/B 타일을 쓰고 CTRL=0x3(start|clr_acc), C를 읽는다. RV32 프로그램은 lw/sw만으로 NPU를 구동 — 별도 DMA나 드라이버 스택이 필요 없다. 1.5분.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NPU 아키텍처. 16×16 output-stationary systolic array. 각 PE가 C[i][j] 누산기를 고정 보유하고, A는 좌→우, B는 상→하로 전파하며 매 사이클 곱-누산. 256 PE 중 200개는 DSP48, 나머지 56개는 LUT-MAC(DSP 220개 한도 때문). INT8 입력을 INT32로 누산 후 requantize. 그림의 스크래치패드·skew·readback 경로를 짚기. 2분.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NPU 데이터플로우. 세 개념: output-stationary(누산 고정), skew feed(A[i][t−i]·B[t−j][j] 대각 정렬), requantize(INT32→×m→&gt;&gt;s→clip→INT8, 양자화 추론용). 하단 타이밍 핵심: t_last=K+2N−2가 스큐 길이. 스크래치패드 출력을 한 단 레지스터링하면 전 입력이 1사이클 균일 이동 → 결과는 비트 동일, 임계경로만 분할. 이게 성능 파트의 ③ 수정. 2분.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제어 흐름 시퀀스. GEMM 한 번의 전 과정. 호스트가 ctrl_axi로 RV32 드라이버를 imem에 적재 → RV32가 sw로 A·B·K를 NPU에 기록 → CTRL=start → NPU가 K+2N−2 사이클 동안 systolic 연산(NPU 자체 박스) → RV32가 STATUS.done 폴링(5사이클 읽기) → C를 읽어 x10~x13에 → 호스트가 readback. 화살표를 시간순으로 따라가며. 1.5분.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모듈 구조. 코드 계층 한눈에. rv32_top(블록디자인) 아래 ps7·clk_wiz·axi_smc·rv32_platform. platform 안에 ctrl_axi·rv32_core(11개 유닛)·캐시·mmio_bridge. NPU는 npu_top16→npu_array→npu_pe 3계층. 하단: 검증 인프라와 호스트 SW(Python 어셈블러·GUI). '전부 직접 작성한 RTL과 툴체인.' 1분.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섹션 전환 — 검증. '동작한다를 어떻게 증명했는가.' 두 축: 시뮬레이션 골든 모델과 실 보드. 15초.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검증 방법론. 4중 구조. ① Python ISS를 ground truth로. ② 무작위/경계 프로그램 100+개 RTL vs ISS 자동 회귀. ③ NPU 전용 TB 18,688 checks(GEMM·256 PE 공간코너·누산·랜덤·requant). ④ 실보드 GEMM. 하단 핵심: 모든 최적화는 지연만 바꾸고 값은 불변 — 그래서 각 RTL 단계마다 18,688 checks를 재실행해 0 error를 유지했다. 이 '불변' 원칙이 공격적 최적화를 안전하게 했다. 2분.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실보드 브링업. 가장 현실적인 고비. 보드 DDR이 물리 불량 — 표준 부팅(BOOT.bin이 DDR에 적재) 경로가 막혔다. 해결: JTAG→ctrl_axi로 RV32 명령어 메모리를 직접 적재하고 코어를 실행. DDR/OCM 없이도 코어와 NPU 전 기능을 실리콘에서 검증. 우측 콘솔: 100MHz 타이밍(WNS +0.085, 0 failing)과 18,688/0 회귀. '시뮬에서 안 보이던 문제를 실 HW가 가르쳐줬다.' 2분.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섹션 전환 — 성능. 이 프로젝트의 핵심. '동작에서 멈추지 않는다. 측정으로 진짜 병목을 찾고, 값을 바꾸지 않고 클럭을 올린다.' 20초.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진단. 최적화의 출발은 측정. 직관과 달리 MAC 어레이는 병목이 아니었다 — 모든 PE→PE 경로가 ~0.5ns로 여유 충분. 진짜 임계경로는 256:1 누산기 readback mux(34단 로직, 26.7ns) = Fmax 37MHz의 원인. 좌측 그림 before/after. 교훈: 추측이 아니라 타이밍 리포트로 진단. 가속기 본체가 아니라 결과를 꺼내는 인터페이스가 클럭을 잡고 있었다. 2분.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세 곳의 파이프라이닝. 표를 v1→v4로 따라가기. ① readback mux를 col→row 분할: 26.7→13.3ns, 37→75MHz, 라우팅 혼잡도 해소(빌드 1시간17분→8분). ② requant 32×17 곱을 DSP로 + multiply→shift→clip 분할: −3.29→−0.60ns, 94MHz. ③ t-counter feed(스크래치패드 출력 레지스터링): 817→0 failing EP, 100MHz 클로즈. MAC은 한 줄도 안 바꿈, 읽기 지연만 5사이클(브릿지 stall로 SW에 투명), 매 단계 18,688 재검증. 2.5분.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100MHz 그 이후. 3단계. STEP1: WNS +0.085로 100MHz 클로즈, FCLK0÷10이 정확히 100MHz라 MMCM 불필요. STEP2: 합성 리타이밍으로 레지스터 재배치 → Fmax 110.8MHz. STEP3: 110.8은 FCLK0 정수분주에 안 맞아(÷9=111 초과) PL MMCM(clk_wiz)으로 100→106 합성. 하단: 아키텍처 한계 ≈110.8MHz의 정체는 RV32 load-use hazard 경로(앞 코어 슬라이드의 복선) — 5단 파이프라인의 본질. blind 플로어플랜은 중립. 그래서 106MHz가 안전한 실보드 동작점. 2.5분.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Fmax 여정 차트. 50(원래 실패)→30(데모)→75→94→100→106. 핵심 메시지 세 가지: (1) 매 단계 실보드 검증 (2) MAC 어레이 무변경 (3) 2× 클럭 × 4× MAC = 약 8× peak INT8 throughput. '정확성을 한 번도 희생하지 않고 거의 3배 빨라졌다.' 1.5분.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실측 화면. 증거. 좌측은 JTAG ctrl_axi로 106MHz(MMCM) GEMM을 실행한 콘솔 — BOARD PASS. 우측은 Vivado 구현 결과(배치·배선). 하단 검은 띠: C=[[39,53],[17,23]]가 골든과 정확히 일치, real XC7Z020. '시뮬이 아니라 실제 실리콘에서.' 1.5분.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교훈·향후. 교훈 4가지: 측정 후 최적화(MAC 아닌 readback), 인터페이스가 임계경로, 실HW≠시뮬(DDR), 불변 변환으로 무손실 가속. 향후: DDR 복구/대체, ISA 확장(M·C), NPU 타일링·AXI-DMA, 코어 재구조화로 110MHz 벽 돌파. 1.5분.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결론. 한 문장으로 닫기: 'RV32I 코어와 INT8 NPU를 RTL부터 직접 만들어 실 XC7Z020에서 106MHz로 정확히 구동했습니다.' 네 지표 재확인. 감사 인사 후 Q&amp;A. 자주 나올 질문 대비: 왜 106이고 110이 아닌가(슬로우코너 마진), DSP 100%인데 더 키우려면(타일링), DDR은 왜 불량인가(하드웨어 이슈, 우회로 검증 완결). 1분.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E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078992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D8C80"/>
                </a:solidFill>
                <a:latin typeface="Calibri"/>
                <a:ea typeface="Calibri"/>
              </a:rPr>
              <a:t>FPGA SoC  ·  프로젝트 결과 보고회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86384" y="1481328"/>
            <a:ext cx="1060704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Cambria"/>
                <a:ea typeface="Cambria"/>
              </a:rPr>
              <a:t>RV32-FullStack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70048"/>
            <a:ext cx="10607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1" i="0">
                <a:solidFill>
                  <a:srgbClr val="DBE7F4"/>
                </a:solidFill>
                <a:latin typeface="Calibri"/>
                <a:ea typeface="Calibri"/>
              </a:rPr>
              <a:t>RISC-V RV32I 소프트코어</a:t>
            </a:r>
            <a:r>
              <a:rPr sz="2100" b="0" i="0">
                <a:solidFill>
                  <a:srgbClr val="64748B"/>
                </a:solidFill>
                <a:latin typeface="Calibri"/>
                <a:ea typeface="Calibri"/>
              </a:rPr>
              <a:t> + </a:t>
            </a:r>
            <a:r>
              <a:rPr sz="2100" b="1" i="0">
                <a:solidFill>
                  <a:srgbClr val="DBE7F4"/>
                </a:solidFill>
                <a:latin typeface="Calibri"/>
                <a:ea typeface="Calibri"/>
              </a:rPr>
              <a:t>INT8 systolic NPU</a:t>
            </a:r>
            <a:r>
              <a:rPr sz="2100" b="0" i="0">
                <a:solidFill>
                  <a:srgbClr val="DBE7F4"/>
                </a:solidFill>
                <a:latin typeface="Calibri"/>
                <a:ea typeface="Calibri"/>
              </a:rPr>
              <a:t> 를 FPGA에 직접 구현한 SoC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419856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9FB0C9"/>
                </a:solidFill>
                <a:latin typeface="Calibri"/>
                <a:ea typeface="Calibri"/>
              </a:rPr>
              <a:t>Zynq-7000 XC7Z020 (Zybo Z7-20)  ·  Vivado / Vitis 2025.2  ·  VHDL RTL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233672"/>
            <a:ext cx="0" cy="841248"/>
          </a:xfrm>
          <a:prstGeom prst="bentConnector3">
            <a:avLst/>
          </a:prstGeom>
          <a:ln w="25400">
            <a:solidFill>
              <a:srgbClr val="0D8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87552" y="4160520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mbria"/>
                <a:ea typeface="Cambria"/>
              </a:rPr>
              <a:t>37 → 106 MHz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4636008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FB0C9"/>
                </a:solidFill>
                <a:latin typeface="Calibri"/>
                <a:ea typeface="Calibri"/>
              </a:rPr>
              <a:t>PL 클럭 (board)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520440" y="4233672"/>
            <a:ext cx="0" cy="841248"/>
          </a:xfrm>
          <a:prstGeom prst="bentConnector3">
            <a:avLst/>
          </a:prstGeom>
          <a:ln w="25400">
            <a:solidFill>
              <a:srgbClr val="0D8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685032" y="4160520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mbria"/>
                <a:ea typeface="Cambria"/>
              </a:rPr>
              <a:t>256 MAC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85032" y="4636008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FB0C9"/>
                </a:solidFill>
                <a:latin typeface="Calibri"/>
                <a:ea typeface="Calibri"/>
              </a:rPr>
              <a:t>16×16 INT8 array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217920" y="4233672"/>
            <a:ext cx="0" cy="841248"/>
          </a:xfrm>
          <a:prstGeom prst="bentConnector3">
            <a:avLst/>
          </a:prstGeom>
          <a:ln w="25400">
            <a:solidFill>
              <a:srgbClr val="0D8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382512" y="4160520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mbria"/>
                <a:ea typeface="Cambria"/>
              </a:rPr>
              <a:t>18,688 / 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2512" y="4636008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FB0C9"/>
                </a:solidFill>
                <a:latin typeface="Calibri"/>
                <a:ea typeface="Calibri"/>
              </a:rPr>
              <a:t>검증 checks / error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915400" y="4233672"/>
            <a:ext cx="0" cy="841248"/>
          </a:xfrm>
          <a:prstGeom prst="bentConnector3">
            <a:avLst/>
          </a:prstGeom>
          <a:ln w="25400">
            <a:solidFill>
              <a:srgbClr val="0D8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9079992" y="4160520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mbria"/>
                <a:ea typeface="Cambria"/>
              </a:rPr>
              <a:t>100 %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4636008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FB0C9"/>
                </a:solidFill>
                <a:latin typeface="Calibri"/>
                <a:ea typeface="Calibri"/>
              </a:rPr>
              <a:t>골든 일치 (실보드)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94360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BE7F4"/>
                </a:solidFill>
                <a:latin typeface="Calibri"/>
                <a:ea typeface="Calibri"/>
              </a:rPr>
              <a:t>발표자 김성민</a:t>
            </a:r>
            <a:r>
              <a:rPr sz="1300" b="0" i="0">
                <a:solidFill>
                  <a:srgbClr val="9FB0C9"/>
                </a:solidFill>
                <a:latin typeface="Calibri"/>
                <a:ea typeface="Calibri"/>
              </a:rPr>
              <a:t>      2026. 06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10642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0D8C80"/>
                </a:solidFill>
                <a:latin typeface="Calibri"/>
                <a:ea typeface="Calibri"/>
              </a:rPr>
              <a:t>목차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15568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F2A44"/>
                </a:solidFill>
                <a:latin typeface="Cambria"/>
                <a:ea typeface="Cambria"/>
              </a:rPr>
              <a:t>발표 구성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783080"/>
            <a:ext cx="11064240" cy="969264"/>
          </a:xfrm>
          <a:prstGeom prst="roundRect">
            <a:avLst>
              <a:gd name="adj" fmla="val 5500"/>
            </a:avLst>
          </a:prstGeom>
          <a:solidFill>
            <a:srgbClr val="F4F7FB"/>
          </a:solidFill>
          <a:ln w="12700">
            <a:solidFill>
              <a:srgbClr val="E7ECF3"/>
            </a:solidFill>
          </a:ln>
          <a:effectLst/>
          <a:effectLst>
            <a:outerShdw blurRad="60000" dist="25000" dir="5400000" rotWithShape="0">
              <a:srgbClr val="1F2A4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92807"/>
            <a:ext cx="12801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0D8C80"/>
                </a:solidFill>
                <a:latin typeface="Cambria"/>
                <a:ea typeface="Cambria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48840" y="1938528"/>
            <a:ext cx="9052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F2A44"/>
                </a:solidFill>
                <a:latin typeface="Cambria"/>
                <a:ea typeface="Cambria"/>
              </a:rPr>
              <a:t>시스템 설계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48840" y="2331720"/>
            <a:ext cx="9052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64748B"/>
                </a:solidFill>
                <a:latin typeface="Calibri"/>
                <a:ea typeface="Calibri"/>
              </a:rPr>
              <a:t>아키텍처 · RV32 5-stage 코어 · 16×16 NPU systolic array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880360"/>
            <a:ext cx="11064240" cy="969264"/>
          </a:xfrm>
          <a:prstGeom prst="roundRect">
            <a:avLst>
              <a:gd name="adj" fmla="val 5500"/>
            </a:avLst>
          </a:prstGeom>
          <a:solidFill>
            <a:srgbClr val="F4F7FB"/>
          </a:solidFill>
          <a:ln w="12700">
            <a:solidFill>
              <a:srgbClr val="E7ECF3"/>
            </a:solidFill>
          </a:ln>
          <a:effectLst/>
          <a:effectLst>
            <a:outerShdw blurRad="60000" dist="25000" dir="5400000" rotWithShape="0">
              <a:srgbClr val="1F2A4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990088"/>
            <a:ext cx="12801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0D8C80"/>
                </a:solidFill>
                <a:latin typeface="Cambria"/>
                <a:ea typeface="Cambria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48840" y="3035808"/>
            <a:ext cx="9052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F2A44"/>
                </a:solidFill>
                <a:latin typeface="Cambria"/>
                <a:ea typeface="Cambria"/>
              </a:rPr>
              <a:t>검증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48840" y="3429000"/>
            <a:ext cx="9052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64748B"/>
                </a:solidFill>
                <a:latin typeface="Calibri"/>
                <a:ea typeface="Calibri"/>
              </a:rPr>
              <a:t>ISS 골든 시뮬레이션 + 실보드 GEMM 검증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977639"/>
            <a:ext cx="11064240" cy="969264"/>
          </a:xfrm>
          <a:prstGeom prst="roundRect">
            <a:avLst>
              <a:gd name="adj" fmla="val 5500"/>
            </a:avLst>
          </a:prstGeom>
          <a:solidFill>
            <a:srgbClr val="F4F7FB"/>
          </a:solidFill>
          <a:ln w="12700">
            <a:solidFill>
              <a:srgbClr val="E7ECF3"/>
            </a:solidFill>
          </a:ln>
          <a:effectLst/>
          <a:effectLst>
            <a:outerShdw blurRad="60000" dist="25000" dir="5400000" rotWithShape="0">
              <a:srgbClr val="1F2A4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087368"/>
            <a:ext cx="12801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0D8C80"/>
                </a:solidFill>
                <a:latin typeface="Cambria"/>
                <a:ea typeface="Cambria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48840" y="4133087"/>
            <a:ext cx="9052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F2A44"/>
                </a:solidFill>
                <a:latin typeface="Cambria"/>
                <a:ea typeface="Cambria"/>
              </a:rPr>
              <a:t>성능 최적화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48840" y="4526279"/>
            <a:ext cx="9052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64748B"/>
                </a:solidFill>
                <a:latin typeface="Calibri"/>
                <a:ea typeface="Calibri"/>
              </a:rPr>
              <a:t>임계경로 진단 → 파이프라이닝 → 37 → 106 MHz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5074920"/>
            <a:ext cx="11064240" cy="969264"/>
          </a:xfrm>
          <a:prstGeom prst="roundRect">
            <a:avLst>
              <a:gd name="adj" fmla="val 5500"/>
            </a:avLst>
          </a:prstGeom>
          <a:solidFill>
            <a:srgbClr val="F4F7FB"/>
          </a:solidFill>
          <a:ln w="12700">
            <a:solidFill>
              <a:srgbClr val="E7ECF3"/>
            </a:solidFill>
          </a:ln>
          <a:effectLst/>
          <a:effectLst>
            <a:outerShdw blurRad="60000" dist="25000" dir="5400000" rotWithShape="0">
              <a:srgbClr val="1F2A4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5184648"/>
            <a:ext cx="12801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0D8C80"/>
                </a:solidFill>
                <a:latin typeface="Cambria"/>
                <a:ea typeface="Cambria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48840" y="5230368"/>
            <a:ext cx="9052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F2A44"/>
                </a:solidFill>
                <a:latin typeface="Cambria"/>
                <a:ea typeface="Cambria"/>
              </a:rPr>
              <a:t>결과 · 교훈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48840" y="5623559"/>
            <a:ext cx="9052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64748B"/>
                </a:solidFill>
                <a:latin typeface="Calibri"/>
                <a:ea typeface="Calibri"/>
              </a:rPr>
              <a:t>실측 구동 화면 · 설계 교훈 · 향후 과제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455664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  <a:ea typeface="Calibri"/>
              </a:rPr>
              <a:t>RV32-FullStack  ·  RV32I + INT8 NPU SoC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6455664"/>
            <a:ext cx="1371600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  <a:ea typeface="Calibri"/>
              </a:rPr>
              <a:t>02 / 24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66928" y="6400800"/>
            <a:ext cx="11064239" cy="0"/>
          </a:xfrm>
          <a:prstGeom prst="bentConnector3">
            <a:avLst/>
          </a:prstGeom>
          <a:ln w="9525">
            <a:solidFill>
              <a:srgbClr val="E7EC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10642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0D8C80"/>
                </a:solidFill>
                <a:latin typeface="Calibri"/>
                <a:ea typeface="Calibri"/>
              </a:rPr>
              <a:t>개요 · 동기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15568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F2A44"/>
                </a:solidFill>
                <a:latin typeface="Cambria"/>
                <a:ea typeface="Cambria"/>
              </a:rPr>
              <a:t>상용 IP 없이, RTL부터 직접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6400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400" b="0" i="0">
                <a:solidFill>
                  <a:srgbClr val="334155"/>
                </a:solidFill>
                <a:latin typeface="Calibri"/>
                <a:ea typeface="Calibri"/>
              </a:rPr>
              <a:t>상용 RISC-V 코어나 NPU IP를 가져다 쓰는 대신, </a:t>
            </a:r>
            <a:r>
              <a:rPr sz="1400" b="1" i="0">
                <a:solidFill>
                  <a:srgbClr val="1F2A44"/>
                </a:solidFill>
                <a:latin typeface="Calibri"/>
                <a:ea typeface="Calibri"/>
              </a:rPr>
              <a:t>명령어 파이프라인 · 해저드 처리 · systolic 데이터플로우 · timing closure</a:t>
            </a:r>
            <a:r>
              <a:rPr sz="1400" b="0" i="0">
                <a:solidFill>
                  <a:srgbClr val="334155"/>
                </a:solidFill>
                <a:latin typeface="Calibri"/>
                <a:ea typeface="Calibri"/>
              </a:rPr>
              <a:t> 를 직접 설계·검증하는 것이 목표.</a:t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334155"/>
                </a:solidFill>
                <a:latin typeface="Calibri"/>
                <a:ea typeface="Calibri"/>
              </a:rPr>
              <a:t>프로세서이기에 정확성은 기본, </a:t>
            </a:r>
            <a:r>
              <a:rPr sz="1400" b="1" i="0">
                <a:solidFill>
                  <a:srgbClr val="B45309"/>
                </a:solidFill>
                <a:latin typeface="Calibri"/>
                <a:ea typeface="Calibri"/>
              </a:rPr>
              <a:t>속도(Fmax)가 곧 가치</a:t>
            </a:r>
            <a:r>
              <a:rPr sz="1400" b="0" i="0">
                <a:solidFill>
                  <a:srgbClr val="334155"/>
                </a:solidFill>
                <a:latin typeface="Calibri"/>
                <a:ea typeface="Calibri"/>
              </a:rPr>
              <a:t> — 동작에서 멈추지 않고 클럭을 한계까지.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246120"/>
            <a:ext cx="3511296" cy="1737360"/>
          </a:xfrm>
          <a:prstGeom prst="roundRect">
            <a:avLst>
              <a:gd name="adj" fmla="val 5500"/>
            </a:avLst>
          </a:prstGeom>
          <a:solidFill>
            <a:srgbClr val="F4F7FB"/>
          </a:solidFill>
          <a:ln w="12700">
            <a:solidFill>
              <a:srgbClr val="E7ECF3"/>
            </a:solidFill>
          </a:ln>
          <a:effectLst/>
          <a:effectLst>
            <a:outerShdw blurRad="60000" dist="25000" dir="5400000" rotWithShape="0">
              <a:srgbClr val="1F2A4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3447288"/>
            <a:ext cx="3108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0D8C80"/>
                </a:solidFill>
                <a:latin typeface="Calibri"/>
                <a:ea typeface="Calibri"/>
              </a:rPr>
              <a:t>목표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3721608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F2A44"/>
                </a:solidFill>
                <a:latin typeface="Cambria"/>
                <a:ea typeface="Cambria"/>
              </a:rPr>
              <a:t>동작하는 코어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4142232"/>
            <a:ext cx="3108960" cy="7315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334155"/>
                </a:solidFill>
                <a:latin typeface="Calibri"/>
                <a:ea typeface="Calibri"/>
              </a:rPr>
              <a:t>RV32I 전 명령어 + FENCE.I, 5-stage 파이프라인, 캐시·트랩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79392" y="3246120"/>
            <a:ext cx="3511296" cy="1737360"/>
          </a:xfrm>
          <a:prstGeom prst="roundRect">
            <a:avLst>
              <a:gd name="adj" fmla="val 5500"/>
            </a:avLst>
          </a:prstGeom>
          <a:solidFill>
            <a:srgbClr val="F4F7FB"/>
          </a:solidFill>
          <a:ln w="12700">
            <a:solidFill>
              <a:srgbClr val="E7ECF3"/>
            </a:solidFill>
          </a:ln>
          <a:effectLst/>
          <a:effectLst>
            <a:outerShdw blurRad="60000" dist="25000" dir="5400000" rotWithShape="0">
              <a:srgbClr val="1F2A4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59" y="3447288"/>
            <a:ext cx="3108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0D8C80"/>
                </a:solidFill>
                <a:latin typeface="Calibri"/>
                <a:ea typeface="Calibri"/>
              </a:rPr>
              <a:t>목표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59" y="3721608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F2A44"/>
                </a:solidFill>
                <a:latin typeface="Cambria"/>
                <a:ea typeface="Cambria"/>
              </a:rPr>
              <a:t>INT8 GEMM 가속기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59" y="4142232"/>
            <a:ext cx="3108960" cy="7315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334155"/>
                </a:solidFill>
                <a:latin typeface="Calibri"/>
                <a:ea typeface="Calibri"/>
              </a:rPr>
              <a:t>16×16 output-stationary systolic array, 256 MAC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91855" y="3246120"/>
            <a:ext cx="3511296" cy="1737360"/>
          </a:xfrm>
          <a:prstGeom prst="roundRect">
            <a:avLst>
              <a:gd name="adj" fmla="val 5500"/>
            </a:avLst>
          </a:prstGeom>
          <a:solidFill>
            <a:srgbClr val="F4F7FB"/>
          </a:solidFill>
          <a:ln w="12700">
            <a:solidFill>
              <a:srgbClr val="E7ECF3"/>
            </a:solidFill>
          </a:ln>
          <a:effectLst/>
          <a:effectLst>
            <a:outerShdw blurRad="60000" dist="25000" dir="5400000" rotWithShape="0">
              <a:srgbClr val="1F2A4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93023" y="3447288"/>
            <a:ext cx="3108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0D8C80"/>
                </a:solidFill>
                <a:latin typeface="Calibri"/>
                <a:ea typeface="Calibri"/>
              </a:rPr>
              <a:t>목표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93023" y="3721608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F2A44"/>
                </a:solidFill>
                <a:latin typeface="Cambria"/>
                <a:ea typeface="Cambria"/>
              </a:rPr>
              <a:t>실보드 + 속도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93023" y="4142232"/>
            <a:ext cx="3108960" cy="7315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334155"/>
                </a:solidFill>
                <a:latin typeface="Calibri"/>
                <a:ea typeface="Calibri"/>
              </a:rPr>
              <a:t>Zynq 실리콘 구동, Fmax를 한계까지 끌어올리기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525780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64748B"/>
                </a:solidFill>
                <a:latin typeface="Calibri"/>
                <a:ea typeface="Calibri"/>
              </a:rPr>
              <a:t>범위: 호스트 어셈블러/GUI(Python) → PS(Cortex-A9) → PL(RV32 + NPU + 주변장치) 전 스택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6455664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  <a:ea typeface="Calibri"/>
              </a:rPr>
              <a:t>RV32-FullStack  ·  RV32I + INT8 NPU SoC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0" y="6455664"/>
            <a:ext cx="1371600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  <a:ea typeface="Calibri"/>
              </a:rPr>
              <a:t>03 / 24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66928" y="6400800"/>
            <a:ext cx="11064239" cy="0"/>
          </a:xfrm>
          <a:prstGeom prst="bentConnector3">
            <a:avLst/>
          </a:prstGeom>
          <a:ln w="9525">
            <a:solidFill>
              <a:srgbClr val="E7EC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10642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0D8C80"/>
                </a:solidFill>
                <a:latin typeface="Calibri"/>
                <a:ea typeface="Calibri"/>
              </a:rPr>
              <a:t>한눈에 보기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15568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F2A44"/>
                </a:solidFill>
                <a:latin typeface="Cambria"/>
                <a:ea typeface="Cambria"/>
              </a:rPr>
              <a:t>결과 요약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5486400" cy="1298448"/>
          </a:xfrm>
          <a:prstGeom prst="roundRect">
            <a:avLst>
              <a:gd name="adj" fmla="val 5500"/>
            </a:avLst>
          </a:prstGeom>
          <a:solidFill>
            <a:srgbClr val="F4F7FB"/>
          </a:solidFill>
          <a:ln w="12700">
            <a:solidFill>
              <a:srgbClr val="E7ECF3"/>
            </a:solidFill>
          </a:ln>
          <a:effectLst/>
          <a:effectLst>
            <a:outerShdw blurRad="60000" dist="25000" dir="5400000" rotWithShape="0">
              <a:srgbClr val="1F2A4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27432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900" b="1" i="0">
                <a:solidFill>
                  <a:srgbClr val="1F2A44"/>
                </a:solidFill>
                <a:latin typeface="Cambria"/>
                <a:ea typeface="Cambria"/>
              </a:rPr>
              <a:t>37 → 106 MHz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886200" y="2084832"/>
            <a:ext cx="0" cy="786384"/>
          </a:xfrm>
          <a:prstGeom prst="bentConnector3">
            <a:avLst/>
          </a:prstGeom>
          <a:ln w="12700">
            <a:solidFill>
              <a:srgbClr val="E7EC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114800" y="2103120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334155"/>
                </a:solidFill>
                <a:latin typeface="Calibri"/>
                <a:ea typeface="Calibri"/>
              </a:rPr>
              <a:t>PL 클럭, 실보드 검증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2670048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0D8C80"/>
                </a:solidFill>
                <a:latin typeface="Calibri"/>
                <a:ea typeface="Calibri"/>
              </a:rPr>
              <a:t>2.7× Fmax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310128"/>
            <a:ext cx="5486400" cy="1298448"/>
          </a:xfrm>
          <a:prstGeom prst="roundRect">
            <a:avLst>
              <a:gd name="adj" fmla="val 5500"/>
            </a:avLst>
          </a:prstGeom>
          <a:solidFill>
            <a:srgbClr val="F4F7FB"/>
          </a:solidFill>
          <a:ln w="12700">
            <a:solidFill>
              <a:srgbClr val="E7ECF3"/>
            </a:solidFill>
          </a:ln>
          <a:effectLst/>
          <a:effectLst>
            <a:outerShdw blurRad="60000" dist="25000" dir="5400000" rotWithShape="0">
              <a:srgbClr val="1F2A4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493008"/>
            <a:ext cx="27432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900" b="1" i="0">
                <a:solidFill>
                  <a:srgbClr val="1F2A44"/>
                </a:solidFill>
                <a:latin typeface="Cambria"/>
                <a:ea typeface="Cambria"/>
              </a:rPr>
              <a:t>256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886200" y="3566160"/>
            <a:ext cx="0" cy="786384"/>
          </a:xfrm>
          <a:prstGeom prst="bentConnector3">
            <a:avLst/>
          </a:prstGeom>
          <a:ln w="12700">
            <a:solidFill>
              <a:srgbClr val="E7EC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114800" y="3584448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334155"/>
                </a:solidFill>
                <a:latin typeface="Calibri"/>
                <a:ea typeface="Calibri"/>
              </a:rPr>
              <a:t>INT8 MAC (16×16)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4151376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0D8C80"/>
                </a:solidFill>
                <a:latin typeface="Calibri"/>
                <a:ea typeface="Calibri"/>
              </a:rPr>
              <a:t>8× peak vs 8×8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791456"/>
            <a:ext cx="5486400" cy="1298448"/>
          </a:xfrm>
          <a:prstGeom prst="roundRect">
            <a:avLst>
              <a:gd name="adj" fmla="val 5500"/>
            </a:avLst>
          </a:prstGeom>
          <a:solidFill>
            <a:srgbClr val="F4F7FB"/>
          </a:solidFill>
          <a:ln w="12700">
            <a:solidFill>
              <a:srgbClr val="E7ECF3"/>
            </a:solidFill>
          </a:ln>
          <a:effectLst/>
          <a:effectLst>
            <a:outerShdw blurRad="60000" dist="25000" dir="5400000" rotWithShape="0">
              <a:srgbClr val="1F2A4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974336"/>
            <a:ext cx="27432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900" b="1" i="0">
                <a:solidFill>
                  <a:srgbClr val="1F2A44"/>
                </a:solidFill>
                <a:latin typeface="Cambria"/>
                <a:ea typeface="Cambria"/>
              </a:rPr>
              <a:t>220 / 220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886200" y="5047488"/>
            <a:ext cx="0" cy="786384"/>
          </a:xfrm>
          <a:prstGeom prst="bentConnector3">
            <a:avLst/>
          </a:prstGeom>
          <a:ln w="12700">
            <a:solidFill>
              <a:srgbClr val="E7EC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114800" y="5065776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334155"/>
                </a:solidFill>
                <a:latin typeface="Calibri"/>
                <a:ea typeface="Calibri"/>
              </a:rPr>
              <a:t>DSP48 사용률 100%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5632704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0D8C80"/>
                </a:solidFill>
                <a:latin typeface="Calibri"/>
                <a:ea typeface="Calibri"/>
              </a:rPr>
              <a:t>200 DSP+56 LUT-MAC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46520" y="1828800"/>
            <a:ext cx="5486400" cy="1298448"/>
          </a:xfrm>
          <a:prstGeom prst="roundRect">
            <a:avLst>
              <a:gd name="adj" fmla="val 5500"/>
            </a:avLst>
          </a:prstGeom>
          <a:solidFill>
            <a:srgbClr val="F4F7FB"/>
          </a:solidFill>
          <a:ln w="12700">
            <a:solidFill>
              <a:srgbClr val="E7ECF3"/>
            </a:solidFill>
          </a:ln>
          <a:effectLst/>
          <a:effectLst>
            <a:outerShdw blurRad="60000" dist="25000" dir="5400000" rotWithShape="0">
              <a:srgbClr val="1F2A4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20840" y="2011680"/>
            <a:ext cx="27432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900" b="1" i="0">
                <a:solidFill>
                  <a:srgbClr val="1F2A44"/>
                </a:solidFill>
                <a:latin typeface="Cambria"/>
                <a:ea typeface="Cambria"/>
              </a:rPr>
              <a:t>18,688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692640" y="2084832"/>
            <a:ext cx="0" cy="786384"/>
          </a:xfrm>
          <a:prstGeom prst="bentConnector3">
            <a:avLst/>
          </a:prstGeom>
          <a:ln w="12700">
            <a:solidFill>
              <a:srgbClr val="E7EC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9921240" y="2103120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334155"/>
                </a:solidFill>
                <a:latin typeface="Calibri"/>
                <a:ea typeface="Calibri"/>
              </a:rPr>
              <a:t>검증 체크 (0 error)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21240" y="2670048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0D8C80"/>
                </a:solidFill>
                <a:latin typeface="Calibri"/>
                <a:ea typeface="Calibri"/>
              </a:rPr>
              <a:t>sim + 실보드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46520" y="3310128"/>
            <a:ext cx="5486400" cy="1298448"/>
          </a:xfrm>
          <a:prstGeom prst="roundRect">
            <a:avLst>
              <a:gd name="adj" fmla="val 5500"/>
            </a:avLst>
          </a:prstGeom>
          <a:solidFill>
            <a:srgbClr val="F4F7FB"/>
          </a:solidFill>
          <a:ln w="12700">
            <a:solidFill>
              <a:srgbClr val="E7ECF3"/>
            </a:solidFill>
          </a:ln>
          <a:effectLst/>
          <a:effectLst>
            <a:outerShdw blurRad="60000" dist="25000" dir="5400000" rotWithShape="0">
              <a:srgbClr val="1F2A4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20840" y="3493008"/>
            <a:ext cx="27432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900" b="1" i="0">
                <a:solidFill>
                  <a:srgbClr val="1F2A44"/>
                </a:solidFill>
                <a:latin typeface="Cambria"/>
                <a:ea typeface="Cambria"/>
              </a:rPr>
              <a:t>C = golden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692640" y="3566160"/>
            <a:ext cx="0" cy="786384"/>
          </a:xfrm>
          <a:prstGeom prst="bentConnector3">
            <a:avLst/>
          </a:prstGeom>
          <a:ln w="12700">
            <a:solidFill>
              <a:srgbClr val="E7EC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9921240" y="3584448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334155"/>
                </a:solidFill>
                <a:latin typeface="Calibri"/>
                <a:ea typeface="Calibri"/>
              </a:rPr>
              <a:t>[[39,53],[17,23]] 일치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21240" y="4151376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0D8C80"/>
                </a:solidFill>
                <a:latin typeface="Calibri"/>
                <a:ea typeface="Calibri"/>
              </a:rPr>
              <a:t>real XC7Z020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46520" y="4791456"/>
            <a:ext cx="5486400" cy="1298448"/>
          </a:xfrm>
          <a:prstGeom prst="roundRect">
            <a:avLst>
              <a:gd name="adj" fmla="val 5500"/>
            </a:avLst>
          </a:prstGeom>
          <a:solidFill>
            <a:srgbClr val="F4F7FB"/>
          </a:solidFill>
          <a:ln w="12700">
            <a:solidFill>
              <a:srgbClr val="E7ECF3"/>
            </a:solidFill>
          </a:ln>
          <a:effectLst/>
          <a:effectLst>
            <a:outerShdw blurRad="60000" dist="25000" dir="5400000" rotWithShape="0">
              <a:srgbClr val="1F2A4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20840" y="4974336"/>
            <a:ext cx="27432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900" b="1" i="0">
                <a:solidFill>
                  <a:srgbClr val="1F2A44"/>
                </a:solidFill>
                <a:latin typeface="Cambria"/>
                <a:ea typeface="Cambria"/>
              </a:rPr>
              <a:t>0 failing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692640" y="5047488"/>
            <a:ext cx="0" cy="786384"/>
          </a:xfrm>
          <a:prstGeom prst="bentConnector3">
            <a:avLst/>
          </a:prstGeom>
          <a:ln w="12700">
            <a:solidFill>
              <a:srgbClr val="E7EC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9921240" y="5065776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334155"/>
                </a:solidFill>
                <a:latin typeface="Calibri"/>
                <a:ea typeface="Calibri"/>
              </a:rPr>
              <a:t>100MHz 타이밍 endpoint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21240" y="5632704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0D8C80"/>
                </a:solidFill>
                <a:latin typeface="Calibri"/>
                <a:ea typeface="Calibri"/>
              </a:rPr>
              <a:t>WNS +0.085 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6455664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  <a:ea typeface="Calibri"/>
              </a:rPr>
              <a:t>RV32-FullStack  ·  RV32I + INT8 NPU SoC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41280" y="6455664"/>
            <a:ext cx="1371600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  <a:ea typeface="Calibri"/>
              </a:rPr>
              <a:t>04 / 24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566928" y="6400800"/>
            <a:ext cx="11064239" cy="0"/>
          </a:xfrm>
          <a:prstGeom prst="bentConnector3">
            <a:avLst/>
          </a:prstGeom>
          <a:ln w="9525">
            <a:solidFill>
              <a:srgbClr val="E7EC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10642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0D8C80"/>
                </a:solidFill>
                <a:latin typeface="Calibri"/>
                <a:ea typeface="Calibri"/>
              </a:rPr>
              <a:t>시스템 설계 ·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15568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F2A44"/>
                </a:solidFill>
                <a:latin typeface="Cambria"/>
                <a:ea typeface="Cambria"/>
              </a:rPr>
              <a:t>시스템 아키텍처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93776" y="1426464"/>
            <a:ext cx="7042873" cy="468172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7ECF3"/>
            </a:solidFill>
          </a:ln>
          <a:effectLst/>
          <a:effectLst>
            <a:outerShdw blurRad="60000" dist="25000" dir="5400000" rotWithShape="0">
              <a:srgbClr val="1F2A4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_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81328"/>
            <a:ext cx="6933145" cy="45720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823960" y="1600200"/>
            <a:ext cx="2834640" cy="1325880"/>
          </a:xfrm>
          <a:prstGeom prst="roundRect">
            <a:avLst>
              <a:gd name="adj" fmla="val 5500"/>
            </a:avLst>
          </a:prstGeom>
          <a:solidFill>
            <a:srgbClr val="F4F7FB"/>
          </a:solidFill>
          <a:ln w="12700">
            <a:solidFill>
              <a:srgbClr val="E7ECF3"/>
            </a:solidFill>
          </a:ln>
          <a:effectLst/>
          <a:effectLst>
            <a:outerShdw blurRad="60000" dist="25000" dir="5400000" rotWithShape="0">
              <a:srgbClr val="1F2A4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25128" y="1801368"/>
            <a:ext cx="24323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F2A44"/>
                </a:solidFill>
                <a:latin typeface="Cambria"/>
                <a:ea typeface="Cambria"/>
              </a:rPr>
              <a:t>PS-host 제어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25128" y="2221992"/>
            <a:ext cx="2432304" cy="594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  <a:ea typeface="Calibri"/>
              </a:rPr>
              <a:t>Cortex-A9 / JTAG가 RV32의 imem 적재·실행·readback을 주관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3960" y="3081528"/>
            <a:ext cx="2834640" cy="1325880"/>
          </a:xfrm>
          <a:prstGeom prst="roundRect">
            <a:avLst>
              <a:gd name="adj" fmla="val 5500"/>
            </a:avLst>
          </a:prstGeom>
          <a:solidFill>
            <a:srgbClr val="F4F7FB"/>
          </a:solidFill>
          <a:ln w="12700">
            <a:solidFill>
              <a:srgbClr val="E7ECF3"/>
            </a:solidFill>
          </a:ln>
          <a:effectLst/>
          <a:effectLst>
            <a:outerShdw blurRad="60000" dist="25000" dir="5400000" rotWithShape="0">
              <a:srgbClr val="1F2A4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25128" y="3282696"/>
            <a:ext cx="24323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F2A44"/>
                </a:solidFill>
                <a:latin typeface="Cambria"/>
                <a:ea typeface="Cambria"/>
              </a:rPr>
              <a:t>ctrl_axi 경로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25128" y="3703320"/>
            <a:ext cx="2432304" cy="594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  <a:ea typeface="Calibri"/>
              </a:rPr>
              <a:t>DDR 불량을 우회해 AXI-Lite로 직접 코어·NPU 제어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23960" y="4562856"/>
            <a:ext cx="2834640" cy="1325880"/>
          </a:xfrm>
          <a:prstGeom prst="roundRect">
            <a:avLst>
              <a:gd name="adj" fmla="val 5500"/>
            </a:avLst>
          </a:prstGeom>
          <a:solidFill>
            <a:srgbClr val="F4F7FB"/>
          </a:solidFill>
          <a:ln w="12700">
            <a:solidFill>
              <a:srgbClr val="E7ECF3"/>
            </a:solidFill>
          </a:ln>
          <a:effectLst/>
          <a:effectLst>
            <a:outerShdw blurRad="60000" dist="25000" dir="5400000" rotWithShape="0">
              <a:srgbClr val="1F2A4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25128" y="4764024"/>
            <a:ext cx="24323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F2A44"/>
                </a:solidFill>
                <a:latin typeface="Cambria"/>
                <a:ea typeface="Cambria"/>
              </a:rPr>
              <a:t>3-계층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25128" y="5184648"/>
            <a:ext cx="2432304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  <a:ea typeface="Calibri"/>
              </a:rPr>
              <a:t>Host SW → PS → PL(RV32+NPU)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6455664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  <a:ea typeface="Calibri"/>
              </a:rPr>
              <a:t>RV32-FullStack  ·  RV32I + INT8 NPU SoC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0" y="6455664"/>
            <a:ext cx="1371600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  <a:ea typeface="Calibri"/>
              </a:rPr>
              <a:t>05 / 24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66928" y="6400800"/>
            <a:ext cx="11064239" cy="0"/>
          </a:xfrm>
          <a:prstGeom prst="bentConnector3">
            <a:avLst/>
          </a:prstGeom>
          <a:ln w="9525">
            <a:solidFill>
              <a:srgbClr val="E7EC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10642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0D8C80"/>
                </a:solidFill>
                <a:latin typeface="Calibri"/>
                <a:ea typeface="Calibri"/>
              </a:rPr>
              <a:t>시스템 설계 ·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15568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F2A44"/>
                </a:solidFill>
                <a:latin typeface="Cambria"/>
                <a:ea typeface="Cambria"/>
              </a:rPr>
              <a:t>하드웨어 플랫폼 — XC7Z020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83080"/>
            <a:ext cx="3419856" cy="914400"/>
          </a:xfrm>
          <a:prstGeom prst="roundRect">
            <a:avLst>
              <a:gd name="adj" fmla="val 5500"/>
            </a:avLst>
          </a:prstGeom>
          <a:solidFill>
            <a:srgbClr val="F4F7FB"/>
          </a:solidFill>
          <a:ln w="12700">
            <a:solidFill>
              <a:srgbClr val="E7ECF3"/>
            </a:solidFill>
          </a:ln>
          <a:effectLst/>
          <a:effectLst>
            <a:outerShdw blurRad="60000" dist="25000" dir="5400000" rotWithShape="0">
              <a:srgbClr val="1F2A4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929384"/>
            <a:ext cx="1828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300" b="1" i="0">
                <a:solidFill>
                  <a:srgbClr val="1F2A44"/>
                </a:solidFill>
                <a:latin typeface="Cambria"/>
                <a:ea typeface="Cambria"/>
              </a:rPr>
              <a:t>53,200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14600" y="1929384"/>
            <a:ext cx="13716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  <a:ea typeface="Calibri"/>
              </a:rPr>
              <a:t>LUT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783080"/>
            <a:ext cx="3419856" cy="914400"/>
          </a:xfrm>
          <a:prstGeom prst="roundRect">
            <a:avLst>
              <a:gd name="adj" fmla="val 5500"/>
            </a:avLst>
          </a:prstGeom>
          <a:solidFill>
            <a:srgbClr val="F4F7FB"/>
          </a:solidFill>
          <a:ln w="12700">
            <a:solidFill>
              <a:srgbClr val="E7ECF3"/>
            </a:solidFill>
          </a:ln>
          <a:effectLst/>
          <a:effectLst>
            <a:outerShdw blurRad="60000" dist="25000" dir="5400000" rotWithShape="0">
              <a:srgbClr val="1F2A4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1929384"/>
            <a:ext cx="1828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300" b="1" i="0">
                <a:solidFill>
                  <a:srgbClr val="1F2A44"/>
                </a:solidFill>
                <a:latin typeface="Cambria"/>
                <a:ea typeface="Cambria"/>
              </a:rPr>
              <a:t>106,400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200" y="1929384"/>
            <a:ext cx="13716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  <a:ea typeface="Calibri"/>
              </a:rPr>
              <a:t>Flip-Flop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79" y="1783080"/>
            <a:ext cx="3419856" cy="914400"/>
          </a:xfrm>
          <a:prstGeom prst="roundRect">
            <a:avLst>
              <a:gd name="adj" fmla="val 5500"/>
            </a:avLst>
          </a:prstGeom>
          <a:solidFill>
            <a:srgbClr val="F4F7FB"/>
          </a:solidFill>
          <a:ln w="12700">
            <a:solidFill>
              <a:srgbClr val="E7ECF3"/>
            </a:solidFill>
          </a:ln>
          <a:effectLst/>
          <a:effectLst>
            <a:outerShdw blurRad="60000" dist="25000" dir="5400000" rotWithShape="0">
              <a:srgbClr val="1F2A4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83879" y="1929384"/>
            <a:ext cx="1828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300" b="1" i="0">
                <a:solidFill>
                  <a:srgbClr val="1F2A44"/>
                </a:solidFill>
                <a:latin typeface="Cambria"/>
                <a:ea typeface="Cambria"/>
              </a:rPr>
              <a:t>220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29800" y="1929384"/>
            <a:ext cx="13716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  <a:ea typeface="Calibri"/>
              </a:rPr>
              <a:t>DSP48E1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862072"/>
            <a:ext cx="3419856" cy="914400"/>
          </a:xfrm>
          <a:prstGeom prst="roundRect">
            <a:avLst>
              <a:gd name="adj" fmla="val 5500"/>
            </a:avLst>
          </a:prstGeom>
          <a:solidFill>
            <a:srgbClr val="F4F7FB"/>
          </a:solidFill>
          <a:ln w="12700">
            <a:solidFill>
              <a:srgbClr val="E7ECF3"/>
            </a:solidFill>
          </a:ln>
          <a:effectLst/>
          <a:effectLst>
            <a:outerShdw blurRad="60000" dist="25000" dir="5400000" rotWithShape="0">
              <a:srgbClr val="1F2A4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008376"/>
            <a:ext cx="1828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300" b="1" i="0">
                <a:solidFill>
                  <a:srgbClr val="1F2A44"/>
                </a:solidFill>
                <a:latin typeface="Cambria"/>
                <a:ea typeface="Cambria"/>
              </a:rPr>
              <a:t>140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14600" y="3008376"/>
            <a:ext cx="13716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  <a:ea typeface="Calibri"/>
              </a:rPr>
              <a:t>BRAM (36K)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2862072"/>
            <a:ext cx="3419856" cy="914400"/>
          </a:xfrm>
          <a:prstGeom prst="roundRect">
            <a:avLst>
              <a:gd name="adj" fmla="val 5500"/>
            </a:avLst>
          </a:prstGeom>
          <a:solidFill>
            <a:srgbClr val="F4F7FB"/>
          </a:solidFill>
          <a:ln w="12700">
            <a:solidFill>
              <a:srgbClr val="E7ECF3"/>
            </a:solidFill>
          </a:ln>
          <a:effectLst/>
          <a:effectLst>
            <a:outerShdw blurRad="60000" dist="25000" dir="5400000" rotWithShape="0">
              <a:srgbClr val="1F2A4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6280" y="3008376"/>
            <a:ext cx="1828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300" b="1" i="0">
                <a:solidFill>
                  <a:srgbClr val="1F2A44"/>
                </a:solidFill>
                <a:latin typeface="Cambria"/>
                <a:ea typeface="Cambria"/>
              </a:rP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3008376"/>
            <a:ext cx="13716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  <a:ea typeface="Calibri"/>
              </a:rPr>
              <a:t>clock region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55279" y="2862072"/>
            <a:ext cx="3419856" cy="914400"/>
          </a:xfrm>
          <a:prstGeom prst="roundRect">
            <a:avLst>
              <a:gd name="adj" fmla="val 5500"/>
            </a:avLst>
          </a:prstGeom>
          <a:solidFill>
            <a:srgbClr val="F4F7FB"/>
          </a:solidFill>
          <a:ln w="12700">
            <a:solidFill>
              <a:srgbClr val="E7ECF3"/>
            </a:solidFill>
          </a:ln>
          <a:effectLst/>
          <a:effectLst>
            <a:outerShdw blurRad="60000" dist="25000" dir="5400000" rotWithShape="0">
              <a:srgbClr val="1F2A4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83879" y="3008376"/>
            <a:ext cx="1828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300" b="1" i="0">
                <a:solidFill>
                  <a:srgbClr val="1F2A44"/>
                </a:solidFill>
                <a:latin typeface="Cambria"/>
                <a:ea typeface="Cambria"/>
              </a:rPr>
              <a:t>13,300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29800" y="3008376"/>
            <a:ext cx="13716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  <a:ea typeface="Calibri"/>
              </a:rPr>
              <a:t>SLICE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114800"/>
            <a:ext cx="5212080" cy="1737360"/>
          </a:xfrm>
          <a:prstGeom prst="roundRect">
            <a:avLst>
              <a:gd name="adj" fmla="val 5500"/>
            </a:avLst>
          </a:prstGeom>
          <a:solidFill>
            <a:srgbClr val="F4F7FB"/>
          </a:solidFill>
          <a:ln w="12700">
            <a:solidFill>
              <a:srgbClr val="E7ECF3"/>
            </a:solidFill>
          </a:ln>
          <a:effectLst/>
          <a:effectLst>
            <a:outerShdw blurRad="60000" dist="25000" dir="5400000" rotWithShape="0">
              <a:srgbClr val="1F2A4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7" y="4315968"/>
            <a:ext cx="480974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0D8C80"/>
                </a:solidFill>
                <a:latin typeface="Calibri"/>
                <a:ea typeface="Calibri"/>
              </a:rPr>
              <a:t>ZYNQ PS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7" y="4590288"/>
            <a:ext cx="48097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F2A44"/>
                </a:solidFill>
                <a:latin typeface="Cambria"/>
                <a:ea typeface="Cambria"/>
              </a:rPr>
              <a:t>Processing System (PS)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7" y="5010912"/>
            <a:ext cx="480974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334155"/>
                </a:solidFill>
                <a:latin typeface="Calibri"/>
                <a:ea typeface="Calibri"/>
              </a:rPr>
              <a:t>ARM Cortex-A9 + JTAG(XSDB). bare-metal 모니터 또는 ctrl_axi(0x4000_0000)로 PL을 직접 구동.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26480" y="4114800"/>
            <a:ext cx="5522976" cy="1737360"/>
          </a:xfrm>
          <a:prstGeom prst="roundRect">
            <a:avLst>
              <a:gd name="adj" fmla="val 5500"/>
            </a:avLst>
          </a:prstGeom>
          <a:solidFill>
            <a:srgbClr val="F4F7FB"/>
          </a:solidFill>
          <a:ln w="12700">
            <a:solidFill>
              <a:srgbClr val="E7ECF3"/>
            </a:solidFill>
          </a:ln>
          <a:effectLst/>
          <a:effectLst>
            <a:outerShdw blurRad="60000" dist="25000" dir="5400000" rotWithShape="0">
              <a:srgbClr val="1F2A4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27648" y="4315968"/>
            <a:ext cx="5120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B45309"/>
                </a:solidFill>
                <a:latin typeface="Calibri"/>
                <a:ea typeface="Calibri"/>
              </a:rPr>
              <a:t>ZYNQ PL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27648" y="4590288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F2A44"/>
                </a:solidFill>
                <a:latin typeface="Cambria"/>
                <a:ea typeface="Cambria"/>
              </a:rPr>
              <a:t>Programmable Logic (PL)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27648" y="5010912"/>
            <a:ext cx="5120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334155"/>
                </a:solidFill>
                <a:latin typeface="Calibri"/>
                <a:ea typeface="Calibri"/>
              </a:rPr>
              <a:t>RV32 코어 + 16×16 NPU + 주변장치(Pmod JA~JE 40핀: SPI×2·I2C×2·UART·PWM·GPIO).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455664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  <a:ea typeface="Calibri"/>
              </a:rPr>
              <a:t>RV32-FullStack  ·  RV32I + INT8 NPU SoC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41280" y="6455664"/>
            <a:ext cx="1371600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  <a:ea typeface="Calibri"/>
              </a:rPr>
              <a:t>06 / 24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66928" y="6400800"/>
            <a:ext cx="11064239" cy="0"/>
          </a:xfrm>
          <a:prstGeom prst="bentConnector3">
            <a:avLst/>
          </a:prstGeom>
          <a:ln w="9525">
            <a:solidFill>
              <a:srgbClr val="E7EC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10642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0D8C80"/>
                </a:solidFill>
                <a:latin typeface="Calibri"/>
                <a:ea typeface="Calibri"/>
              </a:rPr>
              <a:t>시스템 설계 ·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15568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F2A44"/>
                </a:solidFill>
                <a:latin typeface="Cambria"/>
                <a:ea typeface="Cambria"/>
              </a:rPr>
              <a:t>SoC 블록도 — rv32_platform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502552" y="1408176"/>
            <a:ext cx="7156414" cy="463600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7ECF3"/>
            </a:solidFill>
          </a:ln>
          <a:effectLst/>
          <a:effectLst>
            <a:outerShdw blurRad="60000" dist="25000" dir="5400000" rotWithShape="0">
              <a:srgbClr val="1F2A4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_bl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7416" y="1463040"/>
            <a:ext cx="7046686" cy="4526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64748B"/>
                </a:solidFill>
                <a:latin typeface="Calibri"/>
                <a:ea typeface="Calibri"/>
              </a:rPr>
              <a:t>FCLK0 100 MHz → clk_wiz(MMCM) → 106 MHz 단일 PL 클럭 · ctrl_axi 슬레이브 · mmio_bridge 단일사이클 디코드(0x1xxx MMIO / 0x3xxx NPU)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55664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  <a:ea typeface="Calibri"/>
              </a:rPr>
              <a:t>RV32-FullStack  ·  RV32I + INT8 NPU SoC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455664"/>
            <a:ext cx="1371600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  <a:ea typeface="Calibri"/>
              </a:rPr>
              <a:t>07 / 24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66928" y="6400800"/>
            <a:ext cx="11064239" cy="0"/>
          </a:xfrm>
          <a:prstGeom prst="bentConnector3">
            <a:avLst/>
          </a:prstGeom>
          <a:ln w="9525">
            <a:solidFill>
              <a:srgbClr val="E7EC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10642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0D8C80"/>
                </a:solidFill>
                <a:latin typeface="Calibri"/>
                <a:ea typeface="Calibri"/>
              </a:rPr>
              <a:t>시스템 설계 ·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15568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F2A44"/>
                </a:solidFill>
                <a:latin typeface="Cambria"/>
                <a:ea typeface="Cambria"/>
              </a:rPr>
              <a:t>RV32I 코어 — 5단 파이프라인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93776" y="1426464"/>
            <a:ext cx="7882127" cy="4144459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7ECF3"/>
            </a:solidFill>
          </a:ln>
          <a:effectLst/>
          <a:effectLst>
            <a:outerShdw blurRad="60000" dist="25000" dir="5400000" rotWithShape="0">
              <a:srgbClr val="1F2A4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81328"/>
            <a:ext cx="7772400" cy="4034731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595360" y="1600200"/>
            <a:ext cx="3063240" cy="1225296"/>
          </a:xfrm>
          <a:prstGeom prst="roundRect">
            <a:avLst>
              <a:gd name="adj" fmla="val 5500"/>
            </a:avLst>
          </a:prstGeom>
          <a:solidFill>
            <a:srgbClr val="F4F7FB"/>
          </a:solidFill>
          <a:ln w="12700">
            <a:solidFill>
              <a:srgbClr val="E7ECF3"/>
            </a:solidFill>
          </a:ln>
          <a:effectLst/>
          <a:effectLst>
            <a:outerShdw blurRad="60000" dist="25000" dir="5400000" rotWithShape="0">
              <a:srgbClr val="1F2A4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96528" y="1801368"/>
            <a:ext cx="26609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F2A44"/>
                </a:solidFill>
                <a:latin typeface="Cambria"/>
                <a:ea typeface="Cambria"/>
              </a:rPr>
              <a:t>RV32I + FENCE.I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96528" y="2221992"/>
            <a:ext cx="2660904" cy="4937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  <a:ea typeface="Calibri"/>
              </a:rPr>
              <a:t>전 정수 명령어 + 자기수정코드/I캐시 무효화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95360" y="2971800"/>
            <a:ext cx="3063240" cy="1225296"/>
          </a:xfrm>
          <a:prstGeom prst="roundRect">
            <a:avLst>
              <a:gd name="adj" fmla="val 5500"/>
            </a:avLst>
          </a:prstGeom>
          <a:solidFill>
            <a:srgbClr val="F4F7FB"/>
          </a:solidFill>
          <a:ln w="12700">
            <a:solidFill>
              <a:srgbClr val="E7ECF3"/>
            </a:solidFill>
          </a:ln>
          <a:effectLst/>
          <a:effectLst>
            <a:outerShdw blurRad="60000" dist="25000" dir="5400000" rotWithShape="0">
              <a:srgbClr val="1F2A4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96528" y="3172968"/>
            <a:ext cx="26609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F2A44"/>
                </a:solidFill>
                <a:latin typeface="Cambria"/>
                <a:ea typeface="Cambria"/>
              </a:rPr>
              <a:t>Forwarding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96528" y="3593592"/>
            <a:ext cx="2660904" cy="4937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  <a:ea typeface="Calibri"/>
              </a:rPr>
              <a:t>EX/MEM·MEM/WB 우회로 데이터 해저드 제거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95360" y="4343400"/>
            <a:ext cx="3063240" cy="1225296"/>
          </a:xfrm>
          <a:prstGeom prst="roundRect">
            <a:avLst>
              <a:gd name="adj" fmla="val 5500"/>
            </a:avLst>
          </a:prstGeom>
          <a:solidFill>
            <a:srgbClr val="F4F7FB"/>
          </a:solidFill>
          <a:ln w="12700">
            <a:solidFill>
              <a:srgbClr val="E7ECF3"/>
            </a:solidFill>
          </a:ln>
          <a:effectLst/>
          <a:effectLst>
            <a:outerShdw blurRad="60000" dist="25000" dir="5400000" rotWithShape="0">
              <a:srgbClr val="1F2A4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96528" y="4544568"/>
            <a:ext cx="26609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F2A44"/>
                </a:solidFill>
                <a:latin typeface="Cambria"/>
                <a:ea typeface="Cambria"/>
              </a:rPr>
              <a:t>Load-use hazard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96528" y="4965192"/>
            <a:ext cx="2660904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  <a:ea typeface="Calibri"/>
              </a:rPr>
              <a:t>1-cycle stall — 고클럭에서 임계경로가 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6455664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  <a:ea typeface="Calibri"/>
              </a:rPr>
              <a:t>RV32-FullStack  ·  RV32I + INT8 NPU SoC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0" y="6455664"/>
            <a:ext cx="1371600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  <a:ea typeface="Calibri"/>
              </a:rPr>
              <a:t>08 / 24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66928" y="6400800"/>
            <a:ext cx="11064239" cy="0"/>
          </a:xfrm>
          <a:prstGeom prst="bentConnector3">
            <a:avLst/>
          </a:prstGeom>
          <a:ln w="9525">
            <a:solidFill>
              <a:srgbClr val="E7EC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10642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0D8C80"/>
                </a:solidFill>
                <a:latin typeface="Calibri"/>
                <a:ea typeface="Calibri"/>
              </a:rPr>
              <a:t>시스템 설계 ·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15568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F2A44"/>
                </a:solidFill>
                <a:latin typeface="Cambria"/>
                <a:ea typeface="Cambria"/>
              </a:rPr>
              <a:t>메모리 맵 · MMIO 레지스터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737360"/>
          <a:ext cx="5943600" cy="32004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188720"/>
                <a:gridCol w="1828800"/>
                <a:gridCol w="292608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Offset</a:t>
                      </a:r>
                    </a:p>
                  </a:txBody>
                  <a:tcPr marL="91440" marR="54864" marT="18288" marB="18288" anchor="ctr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ctrl_axi reg</a:t>
                      </a:r>
                    </a:p>
                  </a:txBody>
                  <a:tcPr marL="91440" marR="54864" marT="18288" marB="18288" anchor="ctr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field</a:t>
                      </a:r>
                    </a:p>
                  </a:txBody>
                  <a:tcPr marL="91440" marR="54864" marT="18288" marB="18288" anchor="ctr">
                    <a:solidFill>
                      <a:srgbClr val="1F2A44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4155"/>
                          </a:solidFill>
                          <a:latin typeface="Consolas"/>
                          <a:ea typeface="Consolas"/>
                        </a:rPr>
                        <a:t>0x00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4155"/>
                          </a:solidFill>
                          <a:latin typeface="Calibri"/>
                          <a:ea typeface="Calibri"/>
                        </a:rPr>
                        <a:t>CTRL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4155"/>
                          </a:solidFill>
                          <a:latin typeface="Calibri"/>
                          <a:ea typeface="Calibri"/>
                        </a:rPr>
                        <a:t>b0 cpu_reset · b1 run_en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4155"/>
                          </a:solidFill>
                          <a:latin typeface="Consolas"/>
                          <a:ea typeface="Consolas"/>
                        </a:rPr>
                        <a:t>0x04</a:t>
                      </a:r>
                    </a:p>
                  </a:txBody>
                  <a:tcPr marL="91440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4155"/>
                          </a:solidFill>
                          <a:latin typeface="Calibri"/>
                          <a:ea typeface="Calibri"/>
                        </a:rPr>
                        <a:t>STATUS</a:t>
                      </a:r>
                    </a:p>
                  </a:txBody>
                  <a:tcPr marL="91440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4155"/>
                          </a:solidFill>
                          <a:latin typeface="Calibri"/>
                          <a:ea typeface="Calibri"/>
                        </a:rPr>
                        <a:t>b0 halted · b2 run_en</a:t>
                      </a:r>
                    </a:p>
                  </a:txBody>
                  <a:tcPr marL="91440" marR="54864" marT="18288" marB="18288" anchor="ctr"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4155"/>
                          </a:solidFill>
                          <a:latin typeface="Consolas"/>
                          <a:ea typeface="Consolas"/>
                        </a:rPr>
                        <a:t>0x08 / 0x0C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4155"/>
                          </a:solidFill>
                          <a:latin typeface="Calibri"/>
                          <a:ea typeface="Calibri"/>
                        </a:rPr>
                        <a:t>IMEM_ADDR / WDATA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4155"/>
                          </a:solidFill>
                          <a:latin typeface="Calibri"/>
                          <a:ea typeface="Calibri"/>
                        </a:rPr>
                        <a:t>명령어 메모리 적재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4155"/>
                          </a:solidFill>
                          <a:latin typeface="Consolas"/>
                          <a:ea typeface="Consolas"/>
                        </a:rPr>
                        <a:t>0x18 / 0x1C</a:t>
                      </a:r>
                    </a:p>
                  </a:txBody>
                  <a:tcPr marL="91440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4155"/>
                          </a:solidFill>
                          <a:latin typeface="Calibri"/>
                          <a:ea typeface="Calibri"/>
                        </a:rPr>
                        <a:t>REG_ADDR / RDATA</a:t>
                      </a:r>
                    </a:p>
                  </a:txBody>
                  <a:tcPr marL="91440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4155"/>
                          </a:solidFill>
                          <a:latin typeface="Calibri"/>
                          <a:ea typeface="Calibri"/>
                        </a:rPr>
                        <a:t>레지스터 파일 readback</a:t>
                      </a:r>
                    </a:p>
                  </a:txBody>
                  <a:tcPr marL="91440" marR="54864" marT="18288" marB="18288" anchor="ctr"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4155"/>
                          </a:solidFill>
                          <a:latin typeface="Consolas"/>
                          <a:ea typeface="Consolas"/>
                        </a:rPr>
                        <a:t>0x20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4155"/>
                          </a:solidFill>
                          <a:latin typeface="Calibri"/>
                          <a:ea typeface="Calibri"/>
                        </a:rPr>
                        <a:t>PC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4155"/>
                          </a:solidFill>
                          <a:latin typeface="Calibri"/>
                          <a:ea typeface="Calibri"/>
                        </a:rPr>
                        <a:t>program counter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4155"/>
                          </a:solidFill>
                          <a:latin typeface="Consolas"/>
                          <a:ea typeface="Consolas"/>
                        </a:rPr>
                        <a:t>0x2C</a:t>
                      </a:r>
                    </a:p>
                  </a:txBody>
                  <a:tcPr marL="91440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4155"/>
                          </a:solidFill>
                          <a:latin typeface="Calibri"/>
                          <a:ea typeface="Calibri"/>
                        </a:rPr>
                        <a:t>COMMIT_CNT</a:t>
                      </a:r>
                    </a:p>
                  </a:txBody>
                  <a:tcPr marL="91440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4155"/>
                          </a:solidFill>
                          <a:latin typeface="Calibri"/>
                          <a:ea typeface="Calibri"/>
                        </a:rPr>
                        <a:t>retired 명령 수</a:t>
                      </a:r>
                    </a:p>
                  </a:txBody>
                  <a:tcPr marL="91440" marR="54864" marT="18288" marB="18288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766560" y="1737360"/>
          <a:ext cx="4846320" cy="27432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103120"/>
                <a:gridCol w="274320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NPU window 0x3000</a:t>
                      </a:r>
                    </a:p>
                  </a:txBody>
                  <a:tcPr marL="91440" marR="54864" marT="18288" marB="18288" anchor="ctr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역할</a:t>
                      </a:r>
                    </a:p>
                  </a:txBody>
                  <a:tcPr marL="91440" marR="54864" marT="18288" marB="18288" anchor="ctr">
                    <a:solidFill>
                      <a:srgbClr val="1F2A44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4155"/>
                          </a:solidFill>
                          <a:latin typeface="Consolas"/>
                          <a:ea typeface="Consolas"/>
                        </a:rPr>
                        <a:t>0x0000 / 04 / 08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4155"/>
                          </a:solidFill>
                          <a:latin typeface="Calibri"/>
                          <a:ea typeface="Calibri"/>
                        </a:rPr>
                        <a:t>CTRL / STATUS / K_DIM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4155"/>
                          </a:solidFill>
                          <a:latin typeface="Consolas"/>
                          <a:ea typeface="Consolas"/>
                        </a:rPr>
                        <a:t>0x1000 +row·256+k·4</a:t>
                      </a:r>
                    </a:p>
                  </a:txBody>
                  <a:tcPr marL="91440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4155"/>
                          </a:solidFill>
                          <a:latin typeface="Calibri"/>
                          <a:ea typeface="Calibri"/>
                        </a:rPr>
                        <a:t>A 타일 (16×16 INT8)</a:t>
                      </a:r>
                    </a:p>
                  </a:txBody>
                  <a:tcPr marL="91440" marR="54864" marT="18288" marB="18288" anchor="ctr"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4155"/>
                          </a:solidFill>
                          <a:latin typeface="Consolas"/>
                          <a:ea typeface="Consolas"/>
                        </a:rPr>
                        <a:t>0x2000 +col·256+k·4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4155"/>
                          </a:solidFill>
                          <a:latin typeface="Calibri"/>
                          <a:ea typeface="Calibri"/>
                        </a:rPr>
                        <a:t>B 타일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4155"/>
                          </a:solidFill>
                          <a:latin typeface="Consolas"/>
                          <a:ea typeface="Consolas"/>
                        </a:rPr>
                        <a:t>0x3000 +(i·16+j)·4</a:t>
                      </a:r>
                    </a:p>
                  </a:txBody>
                  <a:tcPr marL="91440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4155"/>
                          </a:solidFill>
                          <a:latin typeface="Calibri"/>
                          <a:ea typeface="Calibri"/>
                        </a:rPr>
                        <a:t>C 결과 (INT32/INT8)</a:t>
                      </a:r>
                    </a:p>
                  </a:txBody>
                  <a:tcPr marL="91440" marR="54864" marT="18288" marB="18288" anchor="ctr"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4155"/>
                          </a:solidFill>
                          <a:latin typeface="Consolas"/>
                          <a:ea typeface="Consolas"/>
                        </a:rPr>
                        <a:t>CTRL = 0x3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4155"/>
                          </a:solidFill>
                          <a:latin typeface="Calibri"/>
                          <a:ea typeface="Calibri"/>
                        </a:rPr>
                        <a:t>start | clr_acc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589788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64748B"/>
                </a:solidFill>
                <a:latin typeface="Calibri"/>
                <a:ea typeface="Calibri"/>
              </a:rPr>
              <a:t>단일 주소공간 — RV32 프로그램은 lw/sw 만으로 NPU를 구동 (별도 DMA·드라이버 불필요)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55664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  <a:ea typeface="Calibri"/>
              </a:rPr>
              <a:t>RV32-FullStack  ·  RV32I + INT8 NPU SoC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455664"/>
            <a:ext cx="1371600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  <a:ea typeface="Calibri"/>
              </a:rPr>
              <a:t>09 / 24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66928" y="6400800"/>
            <a:ext cx="11064239" cy="0"/>
          </a:xfrm>
          <a:prstGeom prst="bentConnector3">
            <a:avLst/>
          </a:prstGeom>
          <a:ln w="9525">
            <a:solidFill>
              <a:srgbClr val="E7EC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10642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0D8C80"/>
                </a:solidFill>
                <a:latin typeface="Calibri"/>
                <a:ea typeface="Calibri"/>
              </a:rPr>
              <a:t>시스템 설계 ·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15568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F2A44"/>
                </a:solidFill>
                <a:latin typeface="Cambria"/>
                <a:ea typeface="Cambria"/>
              </a:rPr>
              <a:t>NPU — 16×16 systolic GEMM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93776" y="1426464"/>
            <a:ext cx="6668135" cy="463600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7ECF3"/>
            </a:solidFill>
          </a:ln>
          <a:effectLst/>
          <a:effectLst>
            <a:outerShdw blurRad="60000" dist="25000" dir="5400000" rotWithShape="0">
              <a:srgbClr val="1F2A4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_np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81328"/>
            <a:ext cx="6558407" cy="45262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686800" y="1627632"/>
            <a:ext cx="2971800" cy="1298448"/>
          </a:xfrm>
          <a:prstGeom prst="roundRect">
            <a:avLst>
              <a:gd name="adj" fmla="val 5500"/>
            </a:avLst>
          </a:prstGeom>
          <a:solidFill>
            <a:srgbClr val="F4F7FB"/>
          </a:solidFill>
          <a:ln w="12700">
            <a:solidFill>
              <a:srgbClr val="E7ECF3"/>
            </a:solidFill>
          </a:ln>
          <a:effectLst/>
          <a:effectLst>
            <a:outerShdw blurRad="60000" dist="25000" dir="5400000" rotWithShape="0">
              <a:srgbClr val="1F2A4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87968" y="1828800"/>
            <a:ext cx="25694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F2A44"/>
                </a:solidFill>
                <a:latin typeface="Cambria"/>
                <a:ea typeface="Cambria"/>
              </a:rPr>
              <a:t>Output-stationary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87968" y="2249424"/>
            <a:ext cx="2569464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  <a:ea typeface="Calibri"/>
              </a:rPr>
              <a:t>각 PE가 C[i][j] 누산기를 고정 보유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0" y="3090672"/>
            <a:ext cx="2971800" cy="1298448"/>
          </a:xfrm>
          <a:prstGeom prst="roundRect">
            <a:avLst>
              <a:gd name="adj" fmla="val 5500"/>
            </a:avLst>
          </a:prstGeom>
          <a:solidFill>
            <a:srgbClr val="F4F7FB"/>
          </a:solidFill>
          <a:ln w="12700">
            <a:solidFill>
              <a:srgbClr val="E7ECF3"/>
            </a:solidFill>
          </a:ln>
          <a:effectLst/>
          <a:effectLst>
            <a:outerShdw blurRad="60000" dist="25000" dir="5400000" rotWithShape="0">
              <a:srgbClr val="1F2A4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87968" y="3291840"/>
            <a:ext cx="25694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F2A44"/>
                </a:solidFill>
                <a:latin typeface="Cambria"/>
                <a:ea typeface="Cambria"/>
              </a:rPr>
              <a:t>256 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87968" y="3712464"/>
            <a:ext cx="2569464" cy="5669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  <a:ea typeface="Calibri"/>
              </a:rPr>
              <a:t>200× DSP48 + 56× LUT-MAC (DSP 100%)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0" y="4553712"/>
            <a:ext cx="2971800" cy="1298448"/>
          </a:xfrm>
          <a:prstGeom prst="roundRect">
            <a:avLst>
              <a:gd name="adj" fmla="val 5500"/>
            </a:avLst>
          </a:prstGeom>
          <a:solidFill>
            <a:srgbClr val="F4F7FB"/>
          </a:solidFill>
          <a:ln w="12700">
            <a:solidFill>
              <a:srgbClr val="E7ECF3"/>
            </a:solidFill>
          </a:ln>
          <a:effectLst/>
          <a:effectLst>
            <a:outerShdw blurRad="60000" dist="25000" dir="5400000" rotWithShape="0">
              <a:srgbClr val="1F2A4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87968" y="4754880"/>
            <a:ext cx="25694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F2A44"/>
                </a:solidFill>
                <a:latin typeface="Cambria"/>
                <a:ea typeface="Cambria"/>
              </a:rPr>
              <a:t>INT8 → INT32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87968" y="5175504"/>
            <a:ext cx="2569464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  <a:ea typeface="Calibri"/>
              </a:rPr>
              <a:t>곱 누산 후 requantize로 INT8 출력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6455664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  <a:ea typeface="Calibri"/>
              </a:rPr>
              <a:t>RV32-FullStack  ·  RV32I + INT8 NPU SoC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0" y="6455664"/>
            <a:ext cx="1371600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  <a:ea typeface="Calibri"/>
              </a:rPr>
              <a:t>10 / 24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66928" y="6400800"/>
            <a:ext cx="11064239" cy="0"/>
          </a:xfrm>
          <a:prstGeom prst="bentConnector3">
            <a:avLst/>
          </a:prstGeom>
          <a:ln w="9525">
            <a:solidFill>
              <a:srgbClr val="E7EC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10642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0D8C80"/>
                </a:solidFill>
                <a:latin typeface="Calibri"/>
                <a:ea typeface="Calibri"/>
              </a:rPr>
              <a:t>시스템 설계 ·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15568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F2A44"/>
                </a:solidFill>
                <a:latin typeface="Cambria"/>
                <a:ea typeface="Cambria"/>
              </a:rPr>
              <a:t>NPU 데이터플로우 · requantize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783080"/>
            <a:ext cx="3511296" cy="2011680"/>
          </a:xfrm>
          <a:prstGeom prst="roundRect">
            <a:avLst>
              <a:gd name="adj" fmla="val 5500"/>
            </a:avLst>
          </a:prstGeom>
          <a:solidFill>
            <a:srgbClr val="F4F7FB"/>
          </a:solidFill>
          <a:ln w="12700">
            <a:solidFill>
              <a:srgbClr val="E7ECF3"/>
            </a:solidFill>
          </a:ln>
          <a:effectLst/>
          <a:effectLst>
            <a:outerShdw blurRad="60000" dist="25000" dir="5400000" rotWithShape="0">
              <a:srgbClr val="1F2A4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8096" y="1984248"/>
            <a:ext cx="3108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0D8C80"/>
                </a:solidFill>
                <a:latin typeface="Calibri"/>
                <a:ea typeface="Calibri"/>
              </a:rPr>
              <a:t>흐름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" y="2258568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F2A44"/>
                </a:solidFill>
                <a:latin typeface="Cambria"/>
                <a:ea typeface="Cambria"/>
              </a:rPr>
              <a:t>Output-stationary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2679191"/>
            <a:ext cx="31089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334155"/>
                </a:solidFill>
                <a:latin typeface="Calibri"/>
                <a:ea typeface="Calibri"/>
              </a:rPr>
              <a:t>누산기는 PE에 고정. A는 왼쪽→오른쪽, B는 위→아래로 전파하며 매 사이클 곱-누산.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79392" y="1783080"/>
            <a:ext cx="3511296" cy="2011680"/>
          </a:xfrm>
          <a:prstGeom prst="roundRect">
            <a:avLst>
              <a:gd name="adj" fmla="val 5500"/>
            </a:avLst>
          </a:prstGeom>
          <a:solidFill>
            <a:srgbClr val="F4F7FB"/>
          </a:solidFill>
          <a:ln w="12700">
            <a:solidFill>
              <a:srgbClr val="E7ECF3"/>
            </a:solidFill>
          </a:ln>
          <a:effectLst/>
          <a:effectLst>
            <a:outerShdw blurRad="60000" dist="25000" dir="5400000" rotWithShape="0">
              <a:srgbClr val="1F2A4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59" y="1984248"/>
            <a:ext cx="3108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0D8C80"/>
                </a:solidFill>
                <a:latin typeface="Calibri"/>
                <a:ea typeface="Calibri"/>
              </a:rPr>
              <a:t>정렬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59" y="2258568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F2A44"/>
                </a:solidFill>
                <a:latin typeface="Cambria"/>
                <a:ea typeface="Cambria"/>
              </a:rPr>
              <a:t>Skew feed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59" y="2679191"/>
            <a:ext cx="31089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334155"/>
                </a:solidFill>
                <a:latin typeface="Calibri"/>
                <a:ea typeface="Calibri"/>
              </a:rPr>
              <a:t>A[i][t−i] · B[t−j][j] 로 대각 정렬(skew). 스크래치패드 출력을 레지스터링해 임계경로 단축.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91855" y="1783080"/>
            <a:ext cx="3511296" cy="2011680"/>
          </a:xfrm>
          <a:prstGeom prst="roundRect">
            <a:avLst>
              <a:gd name="adj" fmla="val 5500"/>
            </a:avLst>
          </a:prstGeom>
          <a:solidFill>
            <a:srgbClr val="F4F7FB"/>
          </a:solidFill>
          <a:ln w="12700">
            <a:solidFill>
              <a:srgbClr val="E7ECF3"/>
            </a:solidFill>
          </a:ln>
          <a:effectLst/>
          <a:effectLst>
            <a:outerShdw blurRad="60000" dist="25000" dir="5400000" rotWithShape="0">
              <a:srgbClr val="1F2A4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93023" y="1984248"/>
            <a:ext cx="3108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0D8C80"/>
                </a:solidFill>
                <a:latin typeface="Calibri"/>
                <a:ea typeface="Calibri"/>
              </a:rPr>
              <a:t>양자화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93023" y="2258568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F2A44"/>
                </a:solidFill>
                <a:latin typeface="Cambria"/>
                <a:ea typeface="Cambria"/>
              </a:rPr>
              <a:t>Requantize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93023" y="2679191"/>
            <a:ext cx="31089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334155"/>
                </a:solidFill>
                <a:latin typeface="Calibri"/>
                <a:ea typeface="Calibri"/>
              </a:rPr>
              <a:t>INT32 누산 → ×multiplier → &gt;&gt;shift → clip → INT8. 양자화 추론용 스케일링.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069080"/>
            <a:ext cx="11064240" cy="1600200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 w="12700">
            <a:solidFill>
              <a:srgbClr val="E7ECF3"/>
            </a:solidFill>
          </a:ln>
          <a:effectLst/>
          <a:effectLst>
            <a:outerShdw blurRad="60000" dist="25000" dir="5400000" rotWithShape="0">
              <a:srgbClr val="1F2A4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224528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B45309"/>
                </a:solidFill>
                <a:latin typeface="Calibri"/>
                <a:ea typeface="Calibri"/>
              </a:rPr>
              <a:t>타이밍 핵심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572000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F2A44"/>
                </a:solidFill>
                <a:latin typeface="Consolas"/>
                <a:ea typeface="Consolas"/>
              </a:rPr>
              <a:t>t_last = K + 2N − 2</a:t>
            </a:r>
            <a:r>
              <a:rPr sz="1250" b="0" i="0">
                <a:solidFill>
                  <a:srgbClr val="334155"/>
                </a:solidFill>
                <a:latin typeface="Calibri"/>
                <a:ea typeface="Calibri"/>
              </a:rPr>
              <a:t>  — 스큐 파이프라인 길이. 스크래치패드 출력 a_west/b_north를 한 단 레지스터링하면 전 입력 스트림이 1사이클 균일 이동 → </a:t>
            </a:r>
            <a:r>
              <a:rPr sz="1250" b="1" i="0">
                <a:solidFill>
                  <a:srgbClr val="0D8C80"/>
                </a:solidFill>
                <a:latin typeface="Calibri"/>
                <a:ea typeface="Calibri"/>
              </a:rPr>
              <a:t>결과는 bit-identical</a:t>
            </a:r>
            <a:r>
              <a:rPr sz="1250" b="0" i="0">
                <a:solidFill>
                  <a:srgbClr val="334155"/>
                </a:solidFill>
                <a:latin typeface="Calibri"/>
                <a:ea typeface="Calibri"/>
              </a:rPr>
              <a:t>, 임계경로만 분할.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55664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  <a:ea typeface="Calibri"/>
              </a:rPr>
              <a:t>RV32-FullStack  ·  RV32I + INT8 NPU SoC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0" y="6455664"/>
            <a:ext cx="1371600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  <a:ea typeface="Calibri"/>
              </a:rPr>
              <a:t>11 / 24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66928" y="6400800"/>
            <a:ext cx="11064239" cy="0"/>
          </a:xfrm>
          <a:prstGeom prst="bentConnector3">
            <a:avLst/>
          </a:prstGeom>
          <a:ln w="9525">
            <a:solidFill>
              <a:srgbClr val="E7EC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10642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0D8C80"/>
                </a:solidFill>
                <a:latin typeface="Calibri"/>
                <a:ea typeface="Calibri"/>
              </a:rPr>
              <a:t>시스템 설계 ·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15568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F2A44"/>
                </a:solidFill>
                <a:latin typeface="Cambria"/>
                <a:ea typeface="Cambria"/>
              </a:rPr>
              <a:t>제어 흐름 — GEMM 호출 시퀀스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538142" y="1408176"/>
            <a:ext cx="7085235" cy="459028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7ECF3"/>
            </a:solidFill>
          </a:ln>
          <a:effectLst/>
          <a:effectLst>
            <a:outerShdw blurRad="60000" dist="25000" dir="5400000" rotWithShape="0">
              <a:srgbClr val="1F2A4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_se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3006" y="1463040"/>
            <a:ext cx="6975507" cy="4480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64748B"/>
                </a:solidFill>
                <a:latin typeface="Calibri"/>
                <a:ea typeface="Calibri"/>
              </a:rPr>
              <a:t>호스트가 ctrl_axi로 RV32 드라이버 적재 → RV32가 sw로 A·B·K 기록, CTRL=start → NPU가 K+2N−2 사이클 연산 → STATUS 폴링 후 C readback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55664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  <a:ea typeface="Calibri"/>
              </a:rPr>
              <a:t>RV32-FullStack  ·  RV32I + INT8 NPU SoC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455664"/>
            <a:ext cx="1371600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  <a:ea typeface="Calibri"/>
              </a:rPr>
              <a:t>12 / 24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66928" y="6400800"/>
            <a:ext cx="11064239" cy="0"/>
          </a:xfrm>
          <a:prstGeom prst="bentConnector3">
            <a:avLst/>
          </a:prstGeom>
          <a:ln w="9525">
            <a:solidFill>
              <a:srgbClr val="E7EC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10642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0D8C80"/>
                </a:solidFill>
                <a:latin typeface="Calibri"/>
                <a:ea typeface="Calibri"/>
              </a:rPr>
              <a:t>시스템 설계 ·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15568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F2A44"/>
                </a:solidFill>
                <a:latin typeface="Cambria"/>
                <a:ea typeface="Cambria"/>
              </a:rPr>
              <a:t>프로그램 · 모듈 구조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502552" y="1408176"/>
            <a:ext cx="7156414" cy="463600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7ECF3"/>
            </a:solidFill>
          </a:ln>
          <a:effectLst/>
          <a:effectLst>
            <a:outerShdw blurRad="60000" dist="25000" dir="5400000" rotWithShape="0">
              <a:srgbClr val="1F2A4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_modu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7416" y="1463040"/>
            <a:ext cx="7046686" cy="4526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64748B"/>
                </a:solidFill>
                <a:latin typeface="Calibri"/>
                <a:ea typeface="Calibri"/>
              </a:rPr>
              <a:t>rv32_top(BD) → ps7 · clk_wiz(MMCM) · axi_smc · rv32_platform{ ctrl_axi · rv32_core · I$/D$ · mmio_bridge → npu_top16 → npu_array → npu_pe 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55664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  <a:ea typeface="Calibri"/>
              </a:rPr>
              <a:t>RV32-FullStack  ·  RV32I + INT8 NPU SoC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455664"/>
            <a:ext cx="1371600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  <a:ea typeface="Calibri"/>
              </a:rPr>
              <a:t>13 / 24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66928" y="6400800"/>
            <a:ext cx="11064239" cy="0"/>
          </a:xfrm>
          <a:prstGeom prst="bentConnector3">
            <a:avLst/>
          </a:prstGeom>
          <a:ln w="9525">
            <a:solidFill>
              <a:srgbClr val="E7EC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E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3317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D8C80"/>
                </a:solidFill>
                <a:latin typeface="Calibri"/>
                <a:ea typeface="Calibri"/>
              </a:rPr>
              <a:t>02  검증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86384" y="2697480"/>
            <a:ext cx="10607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mbria"/>
                <a:ea typeface="Cambria"/>
              </a:rPr>
              <a:t>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794760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AEBED6"/>
                </a:solidFill>
                <a:latin typeface="Calibri"/>
                <a:ea typeface="Calibri"/>
              </a:rPr>
              <a:t>시뮬레이션 골든 모델과 실 보드, 두 축으로 — '동작한다'를 증명하기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30936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7E90AC"/>
                </a:solidFill>
                <a:latin typeface="Calibri"/>
                <a:ea typeface="Calibri"/>
              </a:rPr>
              <a:t>14 / 24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10642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0D8C80"/>
                </a:solidFill>
                <a:latin typeface="Calibri"/>
                <a:ea typeface="Calibri"/>
              </a:rPr>
              <a:t>검증 ·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15568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F2A44"/>
                </a:solidFill>
                <a:latin typeface="Cambria"/>
                <a:ea typeface="Cambria"/>
              </a:rPr>
              <a:t>검증 방법론 — 4중 검증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874519"/>
            <a:ext cx="2615184" cy="2286000"/>
          </a:xfrm>
          <a:prstGeom prst="roundRect">
            <a:avLst>
              <a:gd name="adj" fmla="val 5500"/>
            </a:avLst>
          </a:prstGeom>
          <a:solidFill>
            <a:srgbClr val="F4F7FB"/>
          </a:solidFill>
          <a:ln w="12700">
            <a:solidFill>
              <a:srgbClr val="E7ECF3"/>
            </a:solidFill>
          </a:ln>
          <a:effectLst/>
          <a:effectLst>
            <a:outerShdw blurRad="60000" dist="25000" dir="5400000" rotWithShape="0">
              <a:srgbClr val="1F2A4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8096" y="2075688"/>
            <a:ext cx="221284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0D8C80"/>
                </a:solidFill>
                <a:latin typeface="Calibri"/>
                <a:ea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" y="2350008"/>
            <a:ext cx="22128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F2A44"/>
                </a:solidFill>
                <a:latin typeface="Cambria"/>
                <a:ea typeface="Cambria"/>
              </a:rPr>
              <a:t>ISS 골든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2807208"/>
            <a:ext cx="2212848" cy="12435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334155"/>
                </a:solidFill>
                <a:latin typeface="Calibri"/>
                <a:ea typeface="Calibri"/>
              </a:rPr>
              <a:t>Python 명령어 시뮬레이터를 기준 모델로 — 모든 결과의 ground truth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63824" y="2697480"/>
            <a:ext cx="2743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D8C80"/>
                </a:solidFill>
                <a:latin typeface="Calibri"/>
                <a:ea typeface="Calibri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64992" y="1874519"/>
            <a:ext cx="2615184" cy="2286000"/>
          </a:xfrm>
          <a:prstGeom prst="roundRect">
            <a:avLst>
              <a:gd name="adj" fmla="val 5500"/>
            </a:avLst>
          </a:prstGeom>
          <a:solidFill>
            <a:srgbClr val="F4F7FB"/>
          </a:solidFill>
          <a:ln w="12700">
            <a:solidFill>
              <a:srgbClr val="E7ECF3"/>
            </a:solidFill>
          </a:ln>
          <a:effectLst/>
          <a:effectLst>
            <a:outerShdw blurRad="60000" dist="25000" dir="5400000" rotWithShape="0">
              <a:srgbClr val="1F2A4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2075688"/>
            <a:ext cx="221284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0D8C80"/>
                </a:solidFill>
                <a:latin typeface="Calibri"/>
                <a:ea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350008"/>
            <a:ext cx="22128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F2A44"/>
                </a:solidFill>
                <a:latin typeface="Cambria"/>
                <a:ea typeface="Cambria"/>
              </a:rPr>
              <a:t>회귀 100+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807208"/>
            <a:ext cx="2212848" cy="12435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334155"/>
                </a:solidFill>
                <a:latin typeface="Calibri"/>
                <a:ea typeface="Calibri"/>
              </a:rPr>
              <a:t>무작위/경계 프로그램 100+개를 RTL vs ISS 자동 비교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61888" y="2697480"/>
            <a:ext cx="2743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D8C80"/>
                </a:solidFill>
                <a:latin typeface="Calibri"/>
                <a:ea typeface="Calibr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6" y="1874519"/>
            <a:ext cx="2615184" cy="2286000"/>
          </a:xfrm>
          <a:prstGeom prst="roundRect">
            <a:avLst>
              <a:gd name="adj" fmla="val 5500"/>
            </a:avLst>
          </a:prstGeom>
          <a:solidFill>
            <a:srgbClr val="F4F7FB"/>
          </a:solidFill>
          <a:ln w="12700">
            <a:solidFill>
              <a:srgbClr val="E7ECF3"/>
            </a:solidFill>
          </a:ln>
          <a:effectLst/>
          <a:effectLst>
            <a:outerShdw blurRad="60000" dist="25000" dir="5400000" rotWithShape="0">
              <a:srgbClr val="1F2A4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64224" y="2075688"/>
            <a:ext cx="221284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0D8C80"/>
                </a:solidFill>
                <a:latin typeface="Calibri"/>
                <a:ea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64224" y="2350008"/>
            <a:ext cx="22128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F2A44"/>
                </a:solidFill>
                <a:latin typeface="Cambria"/>
                <a:ea typeface="Cambria"/>
              </a:rPr>
              <a:t>NPU TB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64224" y="2807208"/>
            <a:ext cx="2212848" cy="12435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334155"/>
                </a:solidFill>
                <a:latin typeface="Calibri"/>
                <a:ea typeface="Calibri"/>
              </a:rPr>
              <a:t>18,688 checks — GEMM·256 PE 공간코너·누산·랜덤·requant (xsim)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59952" y="2697480"/>
            <a:ext cx="2743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D8C80"/>
                </a:solidFill>
                <a:latin typeface="Calibri"/>
                <a:ea typeface="Calibri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61119" y="1874519"/>
            <a:ext cx="2615184" cy="2286000"/>
          </a:xfrm>
          <a:prstGeom prst="roundRect">
            <a:avLst>
              <a:gd name="adj" fmla="val 5500"/>
            </a:avLst>
          </a:prstGeom>
          <a:solidFill>
            <a:srgbClr val="F4F7FB"/>
          </a:solidFill>
          <a:ln w="12700">
            <a:solidFill>
              <a:srgbClr val="E7ECF3"/>
            </a:solidFill>
          </a:ln>
          <a:effectLst/>
          <a:effectLst>
            <a:outerShdw blurRad="60000" dist="25000" dir="5400000" rotWithShape="0">
              <a:srgbClr val="1F2A4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62288" y="2075688"/>
            <a:ext cx="221284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0D8C80"/>
                </a:solidFill>
                <a:latin typeface="Calibri"/>
                <a:ea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62288" y="2350008"/>
            <a:ext cx="22128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F2A44"/>
                </a:solidFill>
                <a:latin typeface="Cambria"/>
                <a:ea typeface="Cambria"/>
              </a:rPr>
              <a:t>실 보드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62288" y="2807208"/>
            <a:ext cx="2212848" cy="12435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334155"/>
                </a:solidFill>
                <a:latin typeface="Calibri"/>
                <a:ea typeface="Calibri"/>
              </a:rPr>
              <a:t>ctrl_axi로 실제 XC7Z020에서 GEMM 실행, 골든과 대조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4526280"/>
            <a:ext cx="11064240" cy="1143000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 w="12700">
            <a:solidFill>
              <a:srgbClr val="E7ECF3"/>
            </a:solidFill>
          </a:ln>
          <a:effectLst/>
          <a:effectLst>
            <a:outerShdw blurRad="60000" dist="25000" dir="5400000" rotWithShape="0">
              <a:srgbClr val="1F2A4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4681728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0">
                <a:solidFill>
                  <a:srgbClr val="B45309"/>
                </a:solidFill>
                <a:latin typeface="Calibri"/>
                <a:ea typeface="Calibri"/>
              </a:rPr>
              <a:t>불변 보장   </a:t>
            </a:r>
            <a:r>
              <a:rPr sz="1250" b="0" i="0">
                <a:solidFill>
                  <a:srgbClr val="334155"/>
                </a:solidFill>
                <a:latin typeface="Calibri"/>
                <a:ea typeface="Calibri"/>
              </a:rPr>
              <a:t>파이프라인·캐시·skew 변경은 모두 </a:t>
            </a:r>
            <a:r>
              <a:rPr sz="1250" b="1" i="0">
                <a:solidFill>
                  <a:srgbClr val="1F2A44"/>
                </a:solidFill>
                <a:latin typeface="Calibri"/>
                <a:ea typeface="Calibri"/>
              </a:rPr>
              <a:t>지연(latency)만 바꾸고 값은 동일</a:t>
            </a:r>
            <a:r>
              <a:rPr sz="1250" b="0" i="0">
                <a:solidFill>
                  <a:srgbClr val="334155"/>
                </a:solidFill>
                <a:latin typeface="Calibri"/>
                <a:ea typeface="Calibri"/>
              </a:rPr>
              <a:t> — 각 RTL 단계마다 18,688 checks를 재실행해 0 error 유지.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455664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  <a:ea typeface="Calibri"/>
              </a:rPr>
              <a:t>RV32-FullStack  ·  RV32I + INT8 NPU SoC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0" y="6455664"/>
            <a:ext cx="1371600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  <a:ea typeface="Calibri"/>
              </a:rPr>
              <a:t>15 / 24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66928" y="6400800"/>
            <a:ext cx="11064239" cy="0"/>
          </a:xfrm>
          <a:prstGeom prst="bentConnector3">
            <a:avLst/>
          </a:prstGeom>
          <a:ln w="9525">
            <a:solidFill>
              <a:srgbClr val="E7EC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10642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0D8C80"/>
                </a:solidFill>
                <a:latin typeface="Calibri"/>
                <a:ea typeface="Calibri"/>
              </a:rPr>
              <a:t>검증 ·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15568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F2A44"/>
                </a:solidFill>
                <a:latin typeface="Cambria"/>
                <a:ea typeface="Cambria"/>
              </a:rPr>
              <a:t>실보드 브링업 — DDR 우회 검증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548640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B5462F"/>
                </a:solidFill>
                <a:latin typeface="Calibri"/>
                <a:ea typeface="Calibri"/>
              </a:rPr>
              <a:t>도전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300" b="0" i="0">
                <a:solidFill>
                  <a:srgbClr val="334155"/>
                </a:solidFill>
                <a:latin typeface="Calibri"/>
                <a:ea typeface="Calibri"/>
              </a:rPr>
              <a:t>보드의 DDR 메모리가 물리 불량 — 표준 부팅(BOOT.bin/DDR) 경로가 막힘.</a:t>
            </a:r>
          </a:p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5803D"/>
                </a:solidFill>
                <a:latin typeface="Calibri"/>
                <a:ea typeface="Calibri"/>
              </a:rPr>
              <a:t>해결</a:t>
            </a:r>
          </a:p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334155"/>
                </a:solidFill>
                <a:latin typeface="Calibri"/>
                <a:ea typeface="Calibri"/>
              </a:rPr>
              <a:t>JTAG → ctrl_axi(AXI-Lite)로 RV32 imem을 직접 적재하고 코어를 실행. </a:t>
            </a:r>
            <a:r>
              <a:rPr sz="1300" b="1" i="0">
                <a:solidFill>
                  <a:srgbClr val="1F2A44"/>
                </a:solidFill>
                <a:latin typeface="Calibri"/>
                <a:ea typeface="Calibri"/>
              </a:rPr>
              <a:t>DDR/OCM 없이도</a:t>
            </a:r>
            <a:r>
              <a:rPr sz="1300" b="0" i="0">
                <a:solidFill>
                  <a:srgbClr val="334155"/>
                </a:solidFill>
                <a:latin typeface="Calibri"/>
                <a:ea typeface="Calibri"/>
              </a:rPr>
              <a:t> 코어·NPU 기능 전체를 실리콘에서 검증.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4526280"/>
            <a:ext cx="2011680" cy="384048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D8C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4539996"/>
            <a:ext cx="20116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0D8C80"/>
                </a:solidFill>
                <a:latin typeface="Calibri"/>
                <a:ea typeface="Calibri"/>
              </a:rPr>
              <a:t>WNS +0.085 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97480" y="4526280"/>
            <a:ext cx="1737360" cy="384048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D8C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97480" y="4539996"/>
            <a:ext cx="17373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0D8C80"/>
                </a:solidFill>
                <a:latin typeface="Calibri"/>
                <a:ea typeface="Calibri"/>
              </a:rPr>
              <a:t>0 failing EP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4526280"/>
            <a:ext cx="1828800" cy="384048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4539996"/>
            <a:ext cx="1828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B45309"/>
                </a:solidFill>
                <a:latin typeface="Calibri"/>
                <a:ea typeface="Calibri"/>
              </a:rPr>
              <a:t>18,688 / 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45936" y="1889775"/>
            <a:ext cx="5413248" cy="362708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7ECF3"/>
            </a:solidFill>
          </a:ln>
          <a:effectLst/>
          <a:effectLst>
            <a:outerShdw blurRad="60000" dist="25000" dir="5400000" rotWithShape="0">
              <a:srgbClr val="1F2A4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fig_timing_conso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944639"/>
            <a:ext cx="5303520" cy="35173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66928" y="6455664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  <a:ea typeface="Calibri"/>
              </a:rPr>
              <a:t>RV32-FullStack  ·  RV32I + INT8 NPU SoC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0" y="6455664"/>
            <a:ext cx="1371600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  <a:ea typeface="Calibri"/>
              </a:rPr>
              <a:t>16 / 24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66928" y="6400800"/>
            <a:ext cx="11064239" cy="0"/>
          </a:xfrm>
          <a:prstGeom prst="bentConnector3">
            <a:avLst/>
          </a:prstGeom>
          <a:ln w="9525">
            <a:solidFill>
              <a:srgbClr val="E7EC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E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3317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D8C80"/>
                </a:solidFill>
                <a:latin typeface="Calibri"/>
                <a:ea typeface="Calibri"/>
              </a:rPr>
              <a:t>03  성능 최적화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86384" y="2697480"/>
            <a:ext cx="10607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mbria"/>
                <a:ea typeface="Cambria"/>
              </a:rPr>
              <a:t>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794760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AEBED6"/>
                </a:solidFill>
                <a:latin typeface="Calibri"/>
                <a:ea typeface="Calibri"/>
              </a:rPr>
              <a:t>'동작'에서 멈추지 않는다 — 측정으로 진짜 병목을 찾고, 값을 바꾸지 않고 클럭을 올린다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30936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7E90AC"/>
                </a:solidFill>
                <a:latin typeface="Calibri"/>
                <a:ea typeface="Calibri"/>
              </a:rPr>
              <a:t>17 / 24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10642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0D8C80"/>
                </a:solidFill>
                <a:latin typeface="Calibri"/>
                <a:ea typeface="Calibri"/>
              </a:rPr>
              <a:t>성능 ·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15568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F2A44"/>
                </a:solidFill>
                <a:latin typeface="Cambria"/>
                <a:ea typeface="Cambria"/>
              </a:rPr>
              <a:t>진단 — MAC 어레이는 병목이 아니었다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93776" y="1426464"/>
            <a:ext cx="7681853" cy="413308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7ECF3"/>
            </a:solidFill>
          </a:ln>
          <a:effectLst/>
          <a:effectLst>
            <a:outerShdw blurRad="60000" dist="25000" dir="5400000" rotWithShape="0">
              <a:srgbClr val="1F2A4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_readb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81328"/>
            <a:ext cx="7572125" cy="4023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686800" y="1627632"/>
            <a:ext cx="301752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250" b="0" i="0">
                <a:solidFill>
                  <a:srgbClr val="334155"/>
                </a:solidFill>
                <a:latin typeface="Calibri"/>
                <a:ea typeface="Calibri"/>
              </a:rPr>
              <a:t>모든 PE→PE 경로는 ~0.5 ns로 여유 충분.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250" b="0" i="0">
                <a:solidFill>
                  <a:srgbClr val="334155"/>
                </a:solidFill>
                <a:latin typeface="Calibri"/>
                <a:ea typeface="Calibri"/>
              </a:rPr>
              <a:t>진짜 임계경로는 </a:t>
            </a:r>
            <a:r>
              <a:rPr sz="1250" b="1" i="0">
                <a:solidFill>
                  <a:srgbClr val="1F2A44"/>
                </a:solidFill>
                <a:latin typeface="Calibri"/>
                <a:ea typeface="Calibri"/>
              </a:rPr>
              <a:t>256:1 누산기 readback mux</a:t>
            </a:r>
            <a:r>
              <a:rPr sz="1250" b="0" i="0">
                <a:solidFill>
                  <a:srgbClr val="334155"/>
                </a:solidFill>
                <a:latin typeface="Calibri"/>
                <a:ea typeface="Calibri"/>
              </a:rPr>
              <a:t> — 34단 로직, 26.7 ns.</a:t>
            </a:r>
          </a:p>
          <a:p>
            <a:pPr algn="l">
              <a:lnSpc>
                <a:spcPct val="120000"/>
              </a:lnSpc>
            </a:pPr>
            <a:r>
              <a:rPr sz="1250" b="1" i="0">
                <a:solidFill>
                  <a:srgbClr val="B45309"/>
                </a:solidFill>
                <a:latin typeface="Calibri"/>
                <a:ea typeface="Calibri"/>
              </a:rPr>
              <a:t>교훈: </a:t>
            </a:r>
            <a:r>
              <a:rPr sz="1250" b="0" i="0">
                <a:solidFill>
                  <a:srgbClr val="334155"/>
                </a:solidFill>
                <a:latin typeface="Calibri"/>
                <a:ea typeface="Calibri"/>
              </a:rPr>
              <a:t>추측이 아니라 측정. 가속기 본체가 아니라 인터페이스가 클럭을 잡고 있었다.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55664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  <a:ea typeface="Calibri"/>
              </a:rPr>
              <a:t>RV32-FullStack  ·  RV32I + INT8 NPU SoC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455664"/>
            <a:ext cx="1371600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  <a:ea typeface="Calibri"/>
              </a:rPr>
              <a:t>18 / 24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66928" y="6400800"/>
            <a:ext cx="11064239" cy="0"/>
          </a:xfrm>
          <a:prstGeom prst="bentConnector3">
            <a:avLst/>
          </a:prstGeom>
          <a:ln w="9525">
            <a:solidFill>
              <a:srgbClr val="E7EC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10642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0D8C80"/>
                </a:solidFill>
                <a:latin typeface="Calibri"/>
                <a:ea typeface="Calibri"/>
              </a:rPr>
              <a:t>성능 ·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15568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F2A44"/>
                </a:solidFill>
                <a:latin typeface="Cambria"/>
                <a:ea typeface="Cambria"/>
              </a:rPr>
              <a:t>세 곳의 파이프라이닝 — Fmax 진행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737360"/>
          <a:ext cx="11064240" cy="237744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371600"/>
                <a:gridCol w="4114800"/>
                <a:gridCol w="2743200"/>
                <a:gridCol w="1508760"/>
                <a:gridCol w="1325880"/>
              </a:tblGrid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Build</a:t>
                      </a:r>
                    </a:p>
                  </a:txBody>
                  <a:tcPr marL="91440" marR="54864" marT="18288" marB="18288" anchor="ctr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NPU 변경</a:t>
                      </a:r>
                    </a:p>
                  </a:txBody>
                  <a:tcPr marL="91440" marR="54864" marT="18288" marB="18288" anchor="ctr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impl 전략</a:t>
                      </a:r>
                    </a:p>
                  </a:txBody>
                  <a:tcPr marL="91440" marR="54864" marT="18288" marB="18288" anchor="ctr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WNS@100</a:t>
                      </a:r>
                    </a:p>
                  </a:txBody>
                  <a:tcPr marL="91440" marR="54864" marT="18288" marB="18288" anchor="ctr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Fmax</a:t>
                      </a:r>
                    </a:p>
                  </a:txBody>
                  <a:tcPr marL="91440" marR="54864" marT="18288" marB="18288" anchor="ctr">
                    <a:solidFill>
                      <a:srgbClr val="1F2A44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4155"/>
                          </a:solidFill>
                          <a:latin typeface="Calibri"/>
                          <a:ea typeface="Calibri"/>
                        </a:rPr>
                        <a:t>v1 (orig)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4155"/>
                          </a:solidFill>
                          <a:latin typeface="Calibri"/>
                          <a:ea typeface="Calibri"/>
                        </a:rPr>
                        <a:t>combinational 256:1 readback mux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4155"/>
                          </a:solidFill>
                          <a:latin typeface="Calibri"/>
                          <a:ea typeface="Calibri"/>
                        </a:rPr>
                        <a:t>RuntimeOptimized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4155"/>
                          </a:solidFill>
                          <a:latin typeface="Calibri"/>
                          <a:ea typeface="Calibri"/>
                        </a:rPr>
                        <a:t>−6.74 @50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4155"/>
                          </a:solidFill>
                          <a:latin typeface="Calibri"/>
                          <a:ea typeface="Calibri"/>
                        </a:rPr>
                        <a:t>37 MHz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4155"/>
                          </a:solidFill>
                          <a:latin typeface="Calibri"/>
                          <a:ea typeface="Calibri"/>
                        </a:rPr>
                        <a:t>v2</a:t>
                      </a:r>
                    </a:p>
                  </a:txBody>
                  <a:tcPr marL="91440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4155"/>
                          </a:solidFill>
                          <a:latin typeface="Calibri"/>
                          <a:ea typeface="Calibri"/>
                        </a:rPr>
                        <a:t>3-stage readback (col→row→finalize)</a:t>
                      </a:r>
                    </a:p>
                  </a:txBody>
                  <a:tcPr marL="91440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4155"/>
                          </a:solidFill>
                          <a:latin typeface="Calibri"/>
                          <a:ea typeface="Calibri"/>
                        </a:rPr>
                        <a:t>+ phys_opt</a:t>
                      </a:r>
                    </a:p>
                  </a:txBody>
                  <a:tcPr marL="91440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4155"/>
                          </a:solidFill>
                          <a:latin typeface="Calibri"/>
                          <a:ea typeface="Calibri"/>
                        </a:rPr>
                        <a:t>−3.29</a:t>
                      </a:r>
                    </a:p>
                  </a:txBody>
                  <a:tcPr marL="91440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4155"/>
                          </a:solidFill>
                          <a:latin typeface="Calibri"/>
                          <a:ea typeface="Calibri"/>
                        </a:rPr>
                        <a:t>75 MHz</a:t>
                      </a:r>
                    </a:p>
                  </a:txBody>
                  <a:tcPr marL="91440" marR="54864" marT="18288" marB="18288" anchor="ctr">
                    <a:solidFill>
                      <a:srgbClr val="F1F5F9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4155"/>
                          </a:solidFill>
                          <a:latin typeface="Calibri"/>
                          <a:ea typeface="Calibri"/>
                        </a:rPr>
                        <a:t>v3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4155"/>
                          </a:solidFill>
                          <a:latin typeface="Calibri"/>
                          <a:ea typeface="Calibri"/>
                        </a:rPr>
                        <a:t>+ requant 5-stage pipeline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4155"/>
                          </a:solidFill>
                          <a:latin typeface="Calibri"/>
                          <a:ea typeface="Calibri"/>
                        </a:rPr>
                        <a:t>Perf_Explore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4155"/>
                          </a:solidFill>
                          <a:latin typeface="Calibri"/>
                          <a:ea typeface="Calibri"/>
                        </a:rPr>
                        <a:t>−0.60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4155"/>
                          </a:solidFill>
                          <a:latin typeface="Calibri"/>
                          <a:ea typeface="Calibri"/>
                        </a:rPr>
                        <a:t>94 MHz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4155"/>
                          </a:solidFill>
                          <a:latin typeface="Calibri"/>
                          <a:ea typeface="Calibri"/>
                        </a:rPr>
                        <a:t>v4</a:t>
                      </a:r>
                    </a:p>
                  </a:txBody>
                  <a:tcPr marL="91440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4155"/>
                          </a:solidFill>
                          <a:latin typeface="Calibri"/>
                          <a:ea typeface="Calibri"/>
                        </a:rPr>
                        <a:t>+ register scratchpad feed (a_west/b_north)</a:t>
                      </a:r>
                    </a:p>
                  </a:txBody>
                  <a:tcPr marL="91440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4155"/>
                          </a:solidFill>
                          <a:latin typeface="Calibri"/>
                          <a:ea typeface="Calibri"/>
                        </a:rPr>
                        <a:t>Perf_Explore</a:t>
                      </a:r>
                    </a:p>
                  </a:txBody>
                  <a:tcPr marL="91440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4155"/>
                          </a:solidFill>
                          <a:latin typeface="Calibri"/>
                          <a:ea typeface="Calibri"/>
                        </a:rPr>
                        <a:t>+0.085 ✓</a:t>
                      </a:r>
                    </a:p>
                  </a:txBody>
                  <a:tcPr marL="91440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4155"/>
                          </a:solidFill>
                          <a:latin typeface="Calibri"/>
                          <a:ea typeface="Calibri"/>
                        </a:rPr>
                        <a:t>≥100 MHz</a:t>
                      </a:r>
                    </a:p>
                  </a:txBody>
                  <a:tcPr marL="91440" marR="54864" marT="18288" marB="18288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66928" y="4114800"/>
            <a:ext cx="3511296" cy="1554480"/>
          </a:xfrm>
          <a:prstGeom prst="roundRect">
            <a:avLst>
              <a:gd name="adj" fmla="val 5500"/>
            </a:avLst>
          </a:prstGeom>
          <a:solidFill>
            <a:srgbClr val="F4F7FB"/>
          </a:solidFill>
          <a:ln w="12700">
            <a:solidFill>
              <a:srgbClr val="E7ECF3"/>
            </a:solidFill>
          </a:ln>
          <a:effectLst/>
          <a:effectLst>
            <a:outerShdw blurRad="60000" dist="25000" dir="5400000" rotWithShape="0">
              <a:srgbClr val="1F2A4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4315968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F2A44"/>
                </a:solidFill>
                <a:latin typeface="Cambria"/>
                <a:ea typeface="Cambria"/>
              </a:rPr>
              <a:t>① readback mux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4736592"/>
            <a:ext cx="3108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334155"/>
                </a:solidFill>
                <a:latin typeface="Calibri"/>
                <a:ea typeface="Calibri"/>
              </a:rPr>
              <a:t>256:1 → col/row 분할. 26.7→13.3 ns, 라우팅 혼잡 해소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79392" y="4114800"/>
            <a:ext cx="3511296" cy="1554480"/>
          </a:xfrm>
          <a:prstGeom prst="roundRect">
            <a:avLst>
              <a:gd name="adj" fmla="val 5500"/>
            </a:avLst>
          </a:prstGeom>
          <a:solidFill>
            <a:srgbClr val="F4F7FB"/>
          </a:solidFill>
          <a:ln w="12700">
            <a:solidFill>
              <a:srgbClr val="E7ECF3"/>
            </a:solidFill>
          </a:ln>
          <a:effectLst/>
          <a:effectLst>
            <a:outerShdw blurRad="60000" dist="25000" dir="5400000" rotWithShape="0">
              <a:srgbClr val="1F2A4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59" y="4315968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F2A44"/>
                </a:solidFill>
                <a:latin typeface="Cambria"/>
                <a:ea typeface="Cambria"/>
              </a:rPr>
              <a:t>② requant 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59" y="4736592"/>
            <a:ext cx="3108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334155"/>
                </a:solidFill>
                <a:latin typeface="Calibri"/>
                <a:ea typeface="Calibri"/>
              </a:rPr>
              <a:t>32×17 곱을 DSP로 — multiply→shift→clip 분할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91855" y="4114800"/>
            <a:ext cx="3511296" cy="1554480"/>
          </a:xfrm>
          <a:prstGeom prst="roundRect">
            <a:avLst>
              <a:gd name="adj" fmla="val 5500"/>
            </a:avLst>
          </a:prstGeom>
          <a:solidFill>
            <a:srgbClr val="F4F7FB"/>
          </a:solidFill>
          <a:ln w="12700">
            <a:solidFill>
              <a:srgbClr val="E7ECF3"/>
            </a:solidFill>
          </a:ln>
          <a:effectLst/>
          <a:effectLst>
            <a:outerShdw blurRad="60000" dist="25000" dir="5400000" rotWithShape="0">
              <a:srgbClr val="1F2A4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93023" y="4315968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F2A44"/>
                </a:solidFill>
                <a:latin typeface="Cambria"/>
                <a:ea typeface="Cambria"/>
              </a:rPr>
              <a:t>③ t-counter feed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93023" y="4736592"/>
            <a:ext cx="3108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334155"/>
                </a:solidFill>
                <a:latin typeface="Calibri"/>
                <a:ea typeface="Calibri"/>
              </a:rPr>
              <a:t>스크래치패드 출력 레지스터링 → 817→0 failing EP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5779008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64748B"/>
                </a:solidFill>
                <a:latin typeface="Calibri"/>
                <a:ea typeface="Calibri"/>
              </a:rPr>
              <a:t>MAC 어레이는 한 줄도 바꾸지 않음 · 읽기 지연만 5사이클 증가(브릿지 stall로 SW에 투명) · 매 단계 18,688 checks 재검증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6455664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  <a:ea typeface="Calibri"/>
              </a:rPr>
              <a:t>RV32-FullStack  ·  RV32I + INT8 NPU SoC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0" y="6455664"/>
            <a:ext cx="1371600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  <a:ea typeface="Calibri"/>
              </a:rPr>
              <a:t>19 / 24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66928" y="6400800"/>
            <a:ext cx="11064239" cy="0"/>
          </a:xfrm>
          <a:prstGeom prst="bentConnector3">
            <a:avLst/>
          </a:prstGeom>
          <a:ln w="9525">
            <a:solidFill>
              <a:srgbClr val="E7EC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10642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0D8C80"/>
                </a:solidFill>
                <a:latin typeface="Calibri"/>
                <a:ea typeface="Calibri"/>
              </a:rPr>
              <a:t>성능 ·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15568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F2A44"/>
                </a:solidFill>
                <a:latin typeface="Cambria"/>
                <a:ea typeface="Cambria"/>
              </a:rPr>
              <a:t>100 MHz 클로즈 → 리타이밍 → MMCM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783080"/>
            <a:ext cx="3511296" cy="1965960"/>
          </a:xfrm>
          <a:prstGeom prst="roundRect">
            <a:avLst>
              <a:gd name="adj" fmla="val 5500"/>
            </a:avLst>
          </a:prstGeom>
          <a:solidFill>
            <a:srgbClr val="F4F7FB"/>
          </a:solidFill>
          <a:ln w="12700">
            <a:solidFill>
              <a:srgbClr val="E7ECF3"/>
            </a:solidFill>
          </a:ln>
          <a:effectLst/>
          <a:effectLst>
            <a:outerShdw blurRad="60000" dist="25000" dir="5400000" rotWithShape="0">
              <a:srgbClr val="1F2A4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8096" y="1984248"/>
            <a:ext cx="3108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0D8C80"/>
                </a:solidFill>
                <a:latin typeface="Calibri"/>
                <a:ea typeface="Calibri"/>
              </a:rPr>
              <a:t>STEP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" y="2258568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F2A44"/>
                </a:solidFill>
                <a:latin typeface="Cambria"/>
                <a:ea typeface="Cambria"/>
              </a:rPr>
              <a:t>100 MHz 클로즈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2679191"/>
            <a:ext cx="31089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334155"/>
                </a:solidFill>
                <a:latin typeface="Calibri"/>
                <a:ea typeface="Calibri"/>
              </a:rPr>
              <a:t>WNS +0.085 ns, 0 failing endpoint. FCLK0 ÷10 = 정확히 100 MHz — 별도 MMCM 불필요.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79392" y="1783080"/>
            <a:ext cx="3511296" cy="1965960"/>
          </a:xfrm>
          <a:prstGeom prst="roundRect">
            <a:avLst>
              <a:gd name="adj" fmla="val 5500"/>
            </a:avLst>
          </a:prstGeom>
          <a:solidFill>
            <a:srgbClr val="F4F7FB"/>
          </a:solidFill>
          <a:ln w="12700">
            <a:solidFill>
              <a:srgbClr val="E7ECF3"/>
            </a:solidFill>
          </a:ln>
          <a:effectLst/>
          <a:effectLst>
            <a:outerShdw blurRad="60000" dist="25000" dir="5400000" rotWithShape="0">
              <a:srgbClr val="1F2A4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59" y="1984248"/>
            <a:ext cx="3108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0D8C80"/>
                </a:solidFill>
                <a:latin typeface="Calibri"/>
                <a:ea typeface="Calibri"/>
              </a:rPr>
              <a:t>STEP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59" y="2258568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F2A44"/>
                </a:solidFill>
                <a:latin typeface="Cambria"/>
                <a:ea typeface="Cambria"/>
              </a:rPr>
              <a:t>리타이밍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59" y="2679191"/>
            <a:ext cx="31089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334155"/>
                </a:solidFill>
                <a:latin typeface="Calibri"/>
                <a:ea typeface="Calibri"/>
              </a:rPr>
              <a:t>합성 retiming(Flow_PerfOptimized_high)으로 레지스터 재배치 → Fmax 110.8 MHz.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91855" y="1783080"/>
            <a:ext cx="3511296" cy="1965960"/>
          </a:xfrm>
          <a:prstGeom prst="roundRect">
            <a:avLst>
              <a:gd name="adj" fmla="val 5500"/>
            </a:avLst>
          </a:prstGeom>
          <a:solidFill>
            <a:srgbClr val="F4F7FB"/>
          </a:solidFill>
          <a:ln w="12700">
            <a:solidFill>
              <a:srgbClr val="E7ECF3"/>
            </a:solidFill>
          </a:ln>
          <a:effectLst/>
          <a:effectLst>
            <a:outerShdw blurRad="60000" dist="25000" dir="5400000" rotWithShape="0">
              <a:srgbClr val="1F2A4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93023" y="1984248"/>
            <a:ext cx="3108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B45309"/>
                </a:solidFill>
                <a:latin typeface="Calibri"/>
                <a:ea typeface="Calibri"/>
              </a:rPr>
              <a:t>STEP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93023" y="2258568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F2A44"/>
                </a:solidFill>
                <a:latin typeface="Cambria"/>
                <a:ea typeface="Cambria"/>
              </a:rPr>
              <a:t>PL MMCM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93023" y="2679191"/>
            <a:ext cx="31089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334155"/>
                </a:solidFill>
                <a:latin typeface="Calibri"/>
                <a:ea typeface="Calibri"/>
              </a:rPr>
              <a:t>110.8은 FCLK0 정수분주에 안 맞음(÷9=111 초과). clk_wiz MMCM이 100→106 합성.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023360"/>
            <a:ext cx="11064240" cy="1645920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 w="12700">
            <a:solidFill>
              <a:srgbClr val="E7ECF3"/>
            </a:solidFill>
          </a:ln>
          <a:effectLst/>
          <a:effectLst>
            <a:outerShdw blurRad="60000" dist="25000" dir="5400000" rotWithShape="0">
              <a:srgbClr val="1F2A4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187952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F2A44"/>
                </a:solidFill>
                <a:latin typeface="Cambria"/>
                <a:ea typeface="Cambria"/>
              </a:rPr>
              <a:t>아키텍처 한계 ≈ 110.8 MHz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590288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334155"/>
                </a:solidFill>
                <a:latin typeface="Calibri"/>
                <a:ea typeface="Calibri"/>
              </a:rPr>
              <a:t>리타이밍 후 worst 경로는 RV32 코어의 </a:t>
            </a:r>
            <a:r>
              <a:rPr sz="1250" b="1" i="0">
                <a:solidFill>
                  <a:srgbClr val="B45309"/>
                </a:solidFill>
                <a:latin typeface="Consolas"/>
                <a:ea typeface="Consolas"/>
              </a:rPr>
              <a:t>load-use hazard (exmem→ifid CE, ~75% 라우팅)</a:t>
            </a:r>
            <a:r>
              <a:rPr sz="1250" b="0" i="0">
                <a:solidFill>
                  <a:srgbClr val="334155"/>
                </a:solidFill>
                <a:latin typeface="Calibri"/>
                <a:ea typeface="Calibri"/>
              </a:rPr>
              <a:t> — 5단 파이프라인의 본질적 한계. blind 플로어플랜은 중립(~109.6). </a:t>
            </a:r>
            <a:r>
              <a:rPr sz="1250" b="1" i="0">
                <a:solidFill>
                  <a:srgbClr val="0D8C80"/>
                </a:solidFill>
                <a:latin typeface="Calibri"/>
                <a:ea typeface="Calibri"/>
              </a:rPr>
              <a:t>106 MHz가 안전한 실보드 동작점.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55664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  <a:ea typeface="Calibri"/>
              </a:rPr>
              <a:t>RV32-FullStack  ·  RV32I + INT8 NPU SoC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0" y="6455664"/>
            <a:ext cx="1371600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  <a:ea typeface="Calibri"/>
              </a:rPr>
              <a:t>20 / 24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66928" y="6400800"/>
            <a:ext cx="11064239" cy="0"/>
          </a:xfrm>
          <a:prstGeom prst="bentConnector3">
            <a:avLst/>
          </a:prstGeom>
          <a:ln w="9525">
            <a:solidFill>
              <a:srgbClr val="E7EC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10642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0D8C80"/>
                </a:solidFill>
                <a:latin typeface="Calibri"/>
                <a:ea typeface="Calibri"/>
              </a:rPr>
              <a:t>성능 ·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15568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F2A44"/>
                </a:solidFill>
                <a:latin typeface="Cambria"/>
                <a:ea typeface="Cambria"/>
              </a:rPr>
              <a:t>Fmax 여정 — 37 → 106 MHz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99746" y="1426464"/>
            <a:ext cx="7539066" cy="454456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7ECF3"/>
            </a:solidFill>
          </a:ln>
          <a:effectLst/>
          <a:effectLst>
            <a:outerShdw blurRad="60000" dist="25000" dir="5400000" rotWithShape="0">
              <a:srgbClr val="1F2A4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_fma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4610" y="1481328"/>
            <a:ext cx="7429338" cy="4434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64748B"/>
                </a:solidFill>
                <a:latin typeface="Calibri"/>
                <a:ea typeface="Calibri"/>
              </a:rPr>
              <a:t>매 단계 실보드 검증 · MAC 어레이 무변경 · 2× 클럭 × 4× MAC(64→256) ≈ 8× peak INT8 throughput vs 8×8 baseline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55664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  <a:ea typeface="Calibri"/>
              </a:rPr>
              <a:t>RV32-FullStack  ·  RV32I + INT8 NPU SoC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455664"/>
            <a:ext cx="1371600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  <a:ea typeface="Calibri"/>
              </a:rPr>
              <a:t>21 / 24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66928" y="6400800"/>
            <a:ext cx="11064239" cy="0"/>
          </a:xfrm>
          <a:prstGeom prst="bentConnector3">
            <a:avLst/>
          </a:prstGeom>
          <a:ln w="9525">
            <a:solidFill>
              <a:srgbClr val="E7EC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10642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0D8C80"/>
                </a:solidFill>
                <a:latin typeface="Calibri"/>
                <a:ea typeface="Calibri"/>
              </a:rPr>
              <a:t>결과 ·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15568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F2A44"/>
                </a:solidFill>
                <a:latin typeface="Cambria"/>
                <a:ea typeface="Cambria"/>
              </a:rPr>
              <a:t>실측 — 실리콘 구동 화면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93776" y="1499616"/>
            <a:ext cx="5240728" cy="317296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7ECF3"/>
            </a:solidFill>
          </a:ln>
          <a:effectLst/>
          <a:effectLst>
            <a:outerShdw blurRad="60000" dist="25000" dir="5400000" rotWithShape="0">
              <a:srgbClr val="1F2A4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_board_conso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5131000" cy="30632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300216" y="1499616"/>
            <a:ext cx="5413248" cy="2300436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7ECF3"/>
            </a:solidFill>
          </a:ln>
          <a:effectLst/>
          <a:effectLst>
            <a:outerShdw blurRad="60000" dist="25000" dir="5400000" rotWithShape="0">
              <a:srgbClr val="1F2A4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pl_resul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554480"/>
            <a:ext cx="5303520" cy="21907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4754880"/>
            <a:ext cx="5623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64748B"/>
                </a:solidFill>
                <a:latin typeface="Calibri"/>
                <a:ea typeface="Calibri"/>
              </a:rPr>
              <a:t>JTAG ctrl_axi GEMM @106 MHz (MMCM) — BOARD PASS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4754880"/>
            <a:ext cx="5303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64748B"/>
                </a:solidFill>
                <a:latin typeface="Calibri"/>
                <a:ea typeface="Calibri"/>
              </a:rPr>
              <a:t>Vivado 구현 결과 — 배치·배선·타이밍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257800"/>
            <a:ext cx="11109960" cy="566928"/>
          </a:xfrm>
          <a:prstGeom prst="roundRect">
            <a:avLst>
              <a:gd name="adj" fmla="val 12000"/>
            </a:avLst>
          </a:prstGeom>
          <a:solidFill>
            <a:srgbClr val="14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5285232"/>
            <a:ext cx="1110996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6EE7B7"/>
                </a:solidFill>
                <a:latin typeface="Consolas"/>
                <a:ea typeface="Consolas"/>
              </a:rPr>
              <a:t>BOARD-GEMM-MMCM-106MHZ : PASS    </a:t>
            </a:r>
            <a:r>
              <a:rPr sz="1300" b="0" i="0">
                <a:solidFill>
                  <a:srgbClr val="DBE7F4"/>
                </a:solidFill>
                <a:latin typeface="Consolas"/>
                <a:ea typeface="Consolas"/>
              </a:rPr>
              <a:t>C = [[39, 53], [17, 23]]  =  golden   (real XC7Z020)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55664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  <a:ea typeface="Calibri"/>
              </a:rPr>
              <a:t>RV32-FullStack  ·  RV32I + INT8 NPU SoC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455664"/>
            <a:ext cx="1371600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  <a:ea typeface="Calibri"/>
              </a:rPr>
              <a:t>22 / 24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66928" y="6400800"/>
            <a:ext cx="11064239" cy="0"/>
          </a:xfrm>
          <a:prstGeom prst="bentConnector3">
            <a:avLst/>
          </a:prstGeom>
          <a:ln w="9525">
            <a:solidFill>
              <a:srgbClr val="E7EC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10642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0D8C80"/>
                </a:solidFill>
                <a:latin typeface="Calibri"/>
                <a:ea typeface="Calibri"/>
              </a:rPr>
              <a:t>결과 ·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15568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F2A44"/>
                </a:solidFill>
                <a:latin typeface="Cambria"/>
                <a:ea typeface="Cambria"/>
              </a:rPr>
              <a:t>교훈 · 향후 과제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45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D8C80"/>
                </a:solidFill>
                <a:latin typeface="Cambria"/>
                <a:ea typeface="Cambria"/>
              </a:rPr>
              <a:t>설계 교훈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03120"/>
            <a:ext cx="320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D8C80"/>
                </a:solidFill>
                <a:latin typeface="Calibri"/>
                <a:ea typeface="Calibri"/>
              </a:rPr>
              <a:t>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49377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1F2A44"/>
                </a:solidFill>
                <a:latin typeface="Calibri"/>
                <a:ea typeface="Calibri"/>
              </a:rPr>
              <a:t>측정 후 최적화  </a:t>
            </a:r>
            <a:r>
              <a:rPr sz="1100" b="0" i="0">
                <a:solidFill>
                  <a:srgbClr val="64748B"/>
                </a:solidFill>
                <a:latin typeface="Calibri"/>
                <a:ea typeface="Calibri"/>
              </a:rPr>
              <a:t>병목은 MAC이 아니라 readback — 추측 금지, 타이밍 리포트로 진단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035808"/>
            <a:ext cx="320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D8C80"/>
                </a:solidFill>
                <a:latin typeface="Calibri"/>
                <a:ea typeface="Calibri"/>
              </a:rPr>
              <a:t>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035808"/>
            <a:ext cx="49377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1F2A44"/>
                </a:solidFill>
                <a:latin typeface="Calibri"/>
                <a:ea typeface="Calibri"/>
              </a:rPr>
              <a:t>인터페이스가 임계경로  </a:t>
            </a:r>
            <a:r>
              <a:rPr sz="1100" b="0" i="0">
                <a:solidFill>
                  <a:srgbClr val="64748B"/>
                </a:solidFill>
                <a:latin typeface="Calibri"/>
                <a:ea typeface="Calibri"/>
              </a:rPr>
              <a:t>연산 본체보다 데이터 입출력 경로가 클럭을 결정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968496"/>
            <a:ext cx="320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D8C80"/>
                </a:solidFill>
                <a:latin typeface="Calibri"/>
                <a:ea typeface="Calibri"/>
              </a:rPr>
              <a:t>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968496"/>
            <a:ext cx="49377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1F2A44"/>
                </a:solidFill>
                <a:latin typeface="Calibri"/>
                <a:ea typeface="Calibri"/>
              </a:rPr>
              <a:t>실 HW ≠ 시뮬  </a:t>
            </a:r>
            <a:r>
              <a:rPr sz="1100" b="0" i="0">
                <a:solidFill>
                  <a:srgbClr val="64748B"/>
                </a:solidFill>
                <a:latin typeface="Calibri"/>
                <a:ea typeface="Calibri"/>
              </a:rPr>
              <a:t>DDR 불량 — 실리콘에서만 드러나는 문제, 우회 경로 설계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901183"/>
            <a:ext cx="320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D8C80"/>
                </a:solidFill>
                <a:latin typeface="Calibri"/>
                <a:ea typeface="Calibri"/>
              </a:rPr>
              <a:t>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901183"/>
            <a:ext cx="49377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1F2A44"/>
                </a:solidFill>
                <a:latin typeface="Calibri"/>
                <a:ea typeface="Calibri"/>
              </a:rPr>
              <a:t>불변 변환으로 가속  </a:t>
            </a:r>
            <a:r>
              <a:rPr sz="1100" b="0" i="0">
                <a:solidFill>
                  <a:srgbClr val="64748B"/>
                </a:solidFill>
                <a:latin typeface="Calibri"/>
                <a:ea typeface="Calibri"/>
              </a:rPr>
              <a:t>파이프라인·skew 이동은 값 보존, 손실 없이 Fmax↑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645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B45309"/>
                </a:solidFill>
                <a:latin typeface="Cambria"/>
                <a:ea typeface="Cambria"/>
              </a:rPr>
              <a:t>향후 과제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2" y="2103120"/>
            <a:ext cx="320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B45309"/>
                </a:solidFill>
                <a:latin typeface="Calibri"/>
                <a:ea typeface="Calibri"/>
              </a:rPr>
              <a:t>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93992" y="2103120"/>
            <a:ext cx="48463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1F2A44"/>
                </a:solidFill>
                <a:latin typeface="Calibri"/>
                <a:ea typeface="Calibri"/>
              </a:rPr>
              <a:t>DDR 복구/대체  </a:t>
            </a:r>
            <a:r>
              <a:rPr sz="1100" b="0" i="0">
                <a:solidFill>
                  <a:srgbClr val="64748B"/>
                </a:solidFill>
                <a:latin typeface="Calibri"/>
                <a:ea typeface="Calibri"/>
              </a:rPr>
              <a:t>온보드 DDR 재배선 또는 외부 메모리, 표준 부팅 복원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8232" y="3035808"/>
            <a:ext cx="320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B45309"/>
                </a:solidFill>
                <a:latin typeface="Calibri"/>
                <a:ea typeface="Calibri"/>
              </a:rPr>
              <a:t>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93992" y="3035808"/>
            <a:ext cx="48463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1F2A44"/>
                </a:solidFill>
                <a:latin typeface="Calibri"/>
                <a:ea typeface="Calibri"/>
              </a:rPr>
              <a:t>ISA 확장  </a:t>
            </a:r>
            <a:r>
              <a:rPr sz="1100" b="0" i="0">
                <a:solidFill>
                  <a:srgbClr val="64748B"/>
                </a:solidFill>
                <a:latin typeface="Calibri"/>
                <a:ea typeface="Calibri"/>
              </a:rPr>
              <a:t>M(곱셈/나눗셈)·C(압축) 확장, 인터럽트 컨트롤러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8232" y="3968496"/>
            <a:ext cx="320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B45309"/>
                </a:solidFill>
                <a:latin typeface="Calibri"/>
                <a:ea typeface="Calibri"/>
              </a:rPr>
              <a:t>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93992" y="3968496"/>
            <a:ext cx="48463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1F2A44"/>
                </a:solidFill>
                <a:latin typeface="Calibri"/>
                <a:ea typeface="Calibri"/>
              </a:rPr>
              <a:t>NPU 타일링  </a:t>
            </a:r>
            <a:r>
              <a:rPr sz="1100" b="0" i="0">
                <a:solidFill>
                  <a:srgbClr val="64748B"/>
                </a:solidFill>
                <a:latin typeface="Calibri"/>
                <a:ea typeface="Calibri"/>
              </a:rPr>
              <a:t>16×16 초과 행렬을 타일 분할로, AXI-DMA 스트리밍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8232" y="4901183"/>
            <a:ext cx="320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B45309"/>
                </a:solidFill>
                <a:latin typeface="Calibri"/>
                <a:ea typeface="Calibri"/>
              </a:rPr>
              <a:t>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93992" y="4901183"/>
            <a:ext cx="48463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1F2A44"/>
                </a:solidFill>
                <a:latin typeface="Calibri"/>
                <a:ea typeface="Calibri"/>
              </a:rPr>
              <a:t>코어 재구조화  </a:t>
            </a:r>
            <a:r>
              <a:rPr sz="1100" b="0" i="0">
                <a:solidFill>
                  <a:srgbClr val="64748B"/>
                </a:solidFill>
                <a:latin typeface="Calibri"/>
                <a:ea typeface="Calibri"/>
              </a:rPr>
              <a:t>hazard 경로 분할로 110 MHz 벽 돌파 시도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455664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  <a:ea typeface="Calibri"/>
              </a:rPr>
              <a:t>RV32-FullStack  ·  RV32I + INT8 NPU SoC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0" y="6455664"/>
            <a:ext cx="1371600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  <a:ea typeface="Calibri"/>
              </a:rPr>
              <a:t>23 / 24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66928" y="6400800"/>
            <a:ext cx="11064239" cy="0"/>
          </a:xfrm>
          <a:prstGeom prst="bentConnector3">
            <a:avLst/>
          </a:prstGeom>
          <a:ln w="9525">
            <a:solidFill>
              <a:srgbClr val="E7EC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E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3716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D8C80"/>
                </a:solidFill>
                <a:latin typeface="Calibri"/>
                <a:ea typeface="Calibri"/>
              </a:rPr>
              <a:t>결론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86384" y="1755648"/>
            <a:ext cx="106070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FFFFFF"/>
                </a:solidFill>
                <a:latin typeface="Cambria"/>
                <a:ea typeface="Cambria"/>
              </a:rPr>
              <a:t>RV32I 코어 + INT8 NPU를 RTL부터 직접 만들어,</a:t>
            </a:r>
          </a:p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FFFFFF"/>
                </a:solidFill>
                <a:latin typeface="Cambria"/>
                <a:ea typeface="Cambria"/>
              </a:rPr>
              <a:t>실 XC7Z020에서 </a:t>
            </a:r>
            <a:r>
              <a:rPr sz="2600" b="1" i="0">
                <a:solidFill>
                  <a:srgbClr val="0D8C80"/>
                </a:solidFill>
                <a:latin typeface="Cambria"/>
                <a:ea typeface="Cambria"/>
              </a:rPr>
              <a:t>106 MHz</a:t>
            </a:r>
            <a:r>
              <a:rPr sz="2600" b="1" i="0">
                <a:solidFill>
                  <a:srgbClr val="FFFFFF"/>
                </a:solidFill>
                <a:latin typeface="Cambria"/>
                <a:ea typeface="Cambria"/>
              </a:rPr>
              <a:t>로 정확히 구동.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3611880"/>
            <a:ext cx="0" cy="841248"/>
          </a:xfrm>
          <a:prstGeom prst="bentConnector3">
            <a:avLst/>
          </a:prstGeom>
          <a:ln w="25400">
            <a:solidFill>
              <a:srgbClr val="0D8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87552" y="3547872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mbria"/>
                <a:ea typeface="Cambria"/>
              </a:rPr>
              <a:t>37 → 106 MHz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4023360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9FB0C9"/>
                </a:solidFill>
                <a:latin typeface="Calibri"/>
                <a:ea typeface="Calibri"/>
              </a:rPr>
              <a:t>Fmax, board-verified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520440" y="3611880"/>
            <a:ext cx="0" cy="841248"/>
          </a:xfrm>
          <a:prstGeom prst="bentConnector3">
            <a:avLst/>
          </a:prstGeom>
          <a:ln w="25400">
            <a:solidFill>
              <a:srgbClr val="0D8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685032" y="3547872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mbria"/>
                <a:ea typeface="Cambria"/>
              </a:rPr>
              <a:t>256 MAC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85032" y="4023360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9FB0C9"/>
                </a:solidFill>
                <a:latin typeface="Calibri"/>
                <a:ea typeface="Calibri"/>
              </a:rPr>
              <a:t>DSP 100%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217920" y="3611880"/>
            <a:ext cx="0" cy="841248"/>
          </a:xfrm>
          <a:prstGeom prst="bentConnector3">
            <a:avLst/>
          </a:prstGeom>
          <a:ln w="25400">
            <a:solidFill>
              <a:srgbClr val="0D8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382512" y="3547872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mbria"/>
                <a:ea typeface="Cambria"/>
              </a:rPr>
              <a:t>18,688 / 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82512" y="4023360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9FB0C9"/>
                </a:solidFill>
                <a:latin typeface="Calibri"/>
                <a:ea typeface="Calibri"/>
              </a:rPr>
              <a:t>checks / error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915400" y="3611880"/>
            <a:ext cx="0" cy="841248"/>
          </a:xfrm>
          <a:prstGeom prst="bentConnector3">
            <a:avLst/>
          </a:prstGeom>
          <a:ln w="25400">
            <a:solidFill>
              <a:srgbClr val="0D8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9079992" y="3547872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mbria"/>
                <a:ea typeface="Cambria"/>
              </a:rPr>
              <a:t>golden 일치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79992" y="4023360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9FB0C9"/>
                </a:solidFill>
                <a:latin typeface="Calibri"/>
                <a:ea typeface="Calibri"/>
              </a:rPr>
              <a:t>real silicon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07492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mbria"/>
                <a:ea typeface="Cambria"/>
              </a:rPr>
              <a:t>감사합니다  ·  Q &amp; 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59436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9FB0C9"/>
                </a:solidFill>
                <a:latin typeface="Calibri"/>
                <a:ea typeface="Calibri"/>
              </a:rPr>
              <a:t>김성민   ·   RV32-FullStack   ·   Zynq XC7Z020 / Vivado 2025.2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